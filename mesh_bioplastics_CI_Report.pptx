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D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457200"/>
            <a:ext cx="3200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ADVISORY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11480" y="1417320"/>
            <a:ext cx="2286000" cy="4572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160020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COMPETITIVE INTELLIGENCE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11480" y="1965960"/>
            <a:ext cx="6400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Mesh Bioplastics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411480" y="310896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411480" y="36118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COMPETITORS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ANALYSED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2606040" y="310896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2606040" y="36118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EVALUATED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800600" y="310896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4800600" y="36118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INTEL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DEPTH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164592" y="4663440"/>
            <a:ext cx="8979408" cy="480060"/>
          </a:xfrm>
          <a:prstGeom prst="rect">
            <a:avLst/>
          </a:prstGeom>
          <a:solidFill>
            <a:srgbClr val="162840"/>
          </a:solidFill>
          <a:ln w="12700">
            <a:solidFill>
              <a:srgbClr val="16284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11480" y="47091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Prepared by Stratledger Advisory | 2026-04-13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858000" y="4709160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stratledger.com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3200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spc="200" kern="0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TABLE OF CONTENTS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11480" y="822960"/>
            <a:ext cx="8412480" cy="36576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1480" y="1005840"/>
            <a:ext cx="841248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1005840"/>
            <a:ext cx="502920" cy="530352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1097280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05840" y="105156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 Profile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1280160"/>
            <a:ext cx="7589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Overview of Mesh Bioplastics and their market position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11480" y="1645920"/>
            <a:ext cx="841248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11480" y="1645920"/>
            <a:ext cx="502920" cy="530352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1480" y="1737360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05840" y="169164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Intelligence Framework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005840" y="1920240"/>
            <a:ext cx="7589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11 KPIs used to evaluate every competitor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11480" y="2286000"/>
            <a:ext cx="841248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2286000"/>
            <a:ext cx="502920" cy="530352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11480" y="2377440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005840" y="233172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Competitive Landscape Map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005840" y="2560320"/>
            <a:ext cx="7589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4-quadrant positioning of all identified competitors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11480" y="2926080"/>
            <a:ext cx="841248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11480" y="2926080"/>
            <a:ext cx="502920" cy="530352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11480" y="3017520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005840" y="297180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Competitor Deep Dives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005840" y="3200400"/>
            <a:ext cx="7589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profile per competitor across all 11 KPIs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11480" y="3566160"/>
            <a:ext cx="841248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11480" y="3566160"/>
            <a:ext cx="502920" cy="530352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11480" y="3657600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1005840" y="361188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 Comparison Matrix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1005840" y="3840480"/>
            <a:ext cx="7589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Side-by-side benchmarking across the competitive set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11480" y="4206240"/>
            <a:ext cx="841248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11480" y="4206240"/>
            <a:ext cx="502920" cy="530352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11480" y="4297680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1005840" y="425196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Strategic Recommendations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1005840" y="4480560"/>
            <a:ext cx="7589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Actionable findings and opportunities to exploit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11480" y="484632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 ADVISORY |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8979408" cy="640080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109728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| CLIENT PROFILE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200400" y="91440"/>
            <a:ext cx="5760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Mesh Bioplastics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11480" y="82296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OVERVIEW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11480" y="1115568"/>
            <a:ext cx="5029200" cy="36576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234440"/>
            <a:ext cx="50292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[✉ info@meshbioplastics.com](mailto:info@meshbioplastics.com) [☎ +353 87 7654 771](tel:+353877654771)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**Industrial** **AI** &amp; Manufacturing Optimisation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📅 Meet us at MedTech Expo 2026 - Booth B14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[Learn more →](https://meshbioplastics.com/#)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 Revolutionising the future of plastic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High-performance, biodegradable materials designed for a circular future.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 AI-powered precision manufacturing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Using data and automation to improve quality, reduce waste, and support sustainability.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 Let's bui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11480" y="233172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STATED DIFFERENTIATOR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11480" y="2624328"/>
            <a:ext cx="5029200" cy="36576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11480" y="2697480"/>
            <a:ext cx="45720" cy="9144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2697480"/>
            <a:ext cx="4892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760720" y="777240"/>
            <a:ext cx="3063240" cy="1920240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5943600" y="86868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POSITIONING SCORES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943600" y="1234440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75/100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5943600" y="1664208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Material Innovation Depth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943600" y="2057400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75/100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5943600" y="2487168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 Automation Integration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11480" y="484632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 ADVISORY |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8979408" cy="640080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164592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| INTELLIGENCE FRAMEWORK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777240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777240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923544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86968" y="822960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 &amp; Growth Rate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86968" y="1069848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Absolute revenue, YoY trajectory, market momentum signals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11480" y="1435608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11480" y="1435608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1480" y="1581912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86968" y="1481328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Share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86968" y="1728216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Slice of TAM vs client and other players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11480" y="2093976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2093976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11480" y="2240280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886968" y="2139696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Pricing Model &amp; Structure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86968" y="2386584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Tiers, packaging, discount posture, and target margin signals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11480" y="2752344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11480" y="2752344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11480" y="2898648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886968" y="2798064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CAC &amp; Acquisition Channels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86968" y="3044952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Paid, SEO, partnerships, outbound — and relative investment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11480" y="3410712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11480" y="3410712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11480" y="3557016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886968" y="3456432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/ Feature Diff.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886968" y="3703320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capabilities gap analysis vs the client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411480" y="4069080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11480" y="4069080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11480" y="4215384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886968" y="4114800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 Retention Signals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886968" y="4361688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NPS proxies, G2/Trustpilot reviews, churn indicators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800600" y="777240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800600" y="777240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800600" y="923544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5276088" y="822960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Headcount &amp; Hiring Velocity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5276088" y="1069848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LinkedIn trends, open roles, departmental growth signals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800600" y="1435608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800600" y="1435608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800600" y="1581912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5276088" y="1481328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Funding &amp; Burn Rate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5276088" y="1728216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Raise history, total capital, implied runway and threat level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800600" y="2093976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800600" y="2093976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800600" y="2240280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5276088" y="2139696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ICP &amp; Target Segment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5276088" y="2386584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Firmographic and persona overlap with client's ICP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800600" y="2752344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800600" y="2752344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800600" y="2898648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5276088" y="2798064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Messaging &amp; Positioning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5276088" y="3044952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Homepage value proposition, tagline, and strategic intent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4800600" y="3410712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4800600" y="3410712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800600" y="3557016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100" dirty="0"/>
          </a:p>
        </p:txBody>
      </p:sp>
      <p:sp>
        <p:nvSpPr>
          <p:cNvPr id="58" name="Text 56"/>
          <p:cNvSpPr/>
          <p:nvPr/>
        </p:nvSpPr>
        <p:spPr>
          <a:xfrm>
            <a:off x="5276088" y="3456432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Latest News &amp; Developments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5276088" y="3703320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Press releases, product launches, partnerships, leadership changes</a:t>
            </a:r>
            <a:endParaRPr lang="en-US" sz="900" dirty="0"/>
          </a:p>
        </p:txBody>
      </p:sp>
      <p:sp>
        <p:nvSpPr>
          <p:cNvPr id="60" name="Text 58"/>
          <p:cNvSpPr/>
          <p:nvPr/>
        </p:nvSpPr>
        <p:spPr>
          <a:xfrm>
            <a:off x="411480" y="484632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 ADVISORY |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8979408" cy="640080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164592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| COMPETITIVE LANDSCAPE MAP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1097280" y="777240"/>
            <a:ext cx="3291840" cy="1920240"/>
          </a:xfrm>
          <a:prstGeom prst="rect">
            <a:avLst/>
          </a:prstGeom>
          <a:solidFill>
            <a:srgbClr val="F0F4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389120" y="777240"/>
            <a:ext cx="3291840" cy="1920240"/>
          </a:xfrm>
          <a:prstGeom prst="rect">
            <a:avLst/>
          </a:prstGeom>
          <a:solidFill>
            <a:srgbClr val="EFF8F0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97280" y="2697480"/>
            <a:ext cx="3291840" cy="1920240"/>
          </a:xfrm>
          <a:prstGeom prst="rect">
            <a:avLst/>
          </a:prstGeom>
          <a:solidFill>
            <a:srgbClr val="FAFAFA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389120" y="2697480"/>
            <a:ext cx="3291840" cy="1920240"/>
          </a:xfrm>
          <a:prstGeom prst="rect">
            <a:avLst/>
          </a:prstGeom>
          <a:solidFill>
            <a:srgbClr val="F9F5E8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88720" y="868680"/>
            <a:ext cx="3108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480560" y="868680"/>
            <a:ext cx="3108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PRIMARY THREATS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188720" y="2788920"/>
            <a:ext cx="3108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PERIPHERAL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480560" y="2788920"/>
            <a:ext cx="3108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WATCH LIST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389120" y="777240"/>
            <a:ext cx="0" cy="3840480"/>
          </a:xfrm>
          <a:prstGeom prst="line">
            <a:avLst/>
          </a:prstGeom>
          <a:noFill/>
          <a:ln w="12700">
            <a:solidFill>
              <a:srgbClr val="CCCCCC"/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>
            <a:off x="1097280" y="2697480"/>
            <a:ext cx="6583680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dash"/>
          </a:ln>
        </p:spPr>
      </p:sp>
      <p:sp>
        <p:nvSpPr>
          <p:cNvPr id="15" name="Text 13"/>
          <p:cNvSpPr/>
          <p:nvPr/>
        </p:nvSpPr>
        <p:spPr>
          <a:xfrm>
            <a:off x="1097280" y="685800"/>
            <a:ext cx="65836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 HIGH HIGH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1097280" y="4636008"/>
            <a:ext cx="65836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 LOW ▼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82880" y="25603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◄ LOW LOW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7726680" y="256032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 HIGH ►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5907024" y="1609344"/>
            <a:ext cx="256032" cy="256032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559552" y="1883664"/>
            <a:ext cx="1005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Mesh Bioplastics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279392" y="2587752"/>
            <a:ext cx="219456" cy="219456"/>
          </a:xfrm>
          <a:prstGeom prst="ellipse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913632" y="2825496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rjg.com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4279392" y="2587752"/>
            <a:ext cx="219456" cy="219456"/>
          </a:xfrm>
          <a:prstGeom prst="ellipse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913632" y="2825496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kistler.com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4279392" y="2587752"/>
            <a:ext cx="219456" cy="219456"/>
          </a:xfrm>
          <a:prstGeom prst="ellipse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913632" y="2825496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synventive.com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7955280" y="91440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LEGEND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7955280" y="1143000"/>
            <a:ext cx="164592" cy="164592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183880" y="1143000"/>
            <a:ext cx="731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Company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7973568" y="1389888"/>
            <a:ext cx="146304" cy="146304"/>
          </a:xfrm>
          <a:prstGeom prst="ellipse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183880" y="1371600"/>
            <a:ext cx="731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Competitor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411480" y="484632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 ADVISORY |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8979408" cy="640080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731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| COMPETITOR DEEP DIVE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11480" y="32004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rjg.com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114800" y="109728"/>
            <a:ext cx="4754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Emeryville, United States | https://www.rjg.com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858000" y="73152"/>
            <a:ext cx="1097280" cy="50292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0" y="109728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50/100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58000" y="329184"/>
            <a:ext cx="1097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INNOVATION</a:t>
            </a:r>
            <a:endParaRPr lang="en-US" sz="700" dirty="0"/>
          </a:p>
        </p:txBody>
      </p:sp>
      <p:sp>
        <p:nvSpPr>
          <p:cNvPr id="10" name="Shape 8"/>
          <p:cNvSpPr/>
          <p:nvPr/>
        </p:nvSpPr>
        <p:spPr>
          <a:xfrm>
            <a:off x="8046720" y="73152"/>
            <a:ext cx="914400" cy="50292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46720" y="201168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MEDIUM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8046720" y="402336"/>
            <a:ext cx="914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THREAT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274320" y="749808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795528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Revenue &amp; Growth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65760" y="102412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274320" y="1453896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1499616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Market Share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65760" y="1728216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74320" y="2157984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2203704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Pricing Model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65760" y="2432304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Opaque pricing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274320" y="2862072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2907792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CAC &amp; Channels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65760" y="3136392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 contact, professional networks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274320" y="3566160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611880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Product Diff.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365760" y="3840480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Trademark, copyright, entertainment law with 500+ applications credited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274320" y="4270248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4315968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Retention Signals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365760" y="454456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Avvo 10.0 rating, Martindale-Hubbell AV Preeminent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663440" y="749808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754880" y="795528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Headcount &amp; Hiring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4754880" y="102412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4663440" y="1453896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754880" y="1499616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Funding &amp; Runway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754880" y="1728216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663440" y="2157984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754880" y="2203704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ICP &amp; Segment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4754880" y="2432304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Entertainment industry producers, directors, actors, musicians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663440" y="2862072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754880" y="2907792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Messaging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4754880" y="3136392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Intellectual property and entertainment law expertise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663440" y="3566160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754880" y="3611880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Latest News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4754880" y="3840480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recent news found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411480" y="484632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 ADVISORY |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8979408" cy="640080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731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| COMPETITOR DEEP DIVE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11480" y="32004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kistler.com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114800" y="109728"/>
            <a:ext cx="4754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 | https://www.kistler.com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858000" y="73152"/>
            <a:ext cx="1097280" cy="50292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0" y="109728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50/100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58000" y="329184"/>
            <a:ext cx="1097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INNOVATION</a:t>
            </a:r>
            <a:endParaRPr lang="en-US" sz="700" dirty="0"/>
          </a:p>
        </p:txBody>
      </p:sp>
      <p:sp>
        <p:nvSpPr>
          <p:cNvPr id="10" name="Shape 8"/>
          <p:cNvSpPr/>
          <p:nvPr/>
        </p:nvSpPr>
        <p:spPr>
          <a:xfrm>
            <a:off x="8046720" y="73152"/>
            <a:ext cx="914400" cy="50292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46720" y="201168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MEDIUM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8046720" y="402336"/>
            <a:ext cx="914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THREAT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274320" y="749808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795528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Revenue &amp; Growth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65760" y="102412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274320" y="1453896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1499616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Market Share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65760" y="1728216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74320" y="2157984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2203704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Pricing Model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65760" y="2432304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Opaque pricing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274320" y="2862072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2907792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CAC &amp; Channels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65760" y="3136392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finder, glossary content, website education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274320" y="3566160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611880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Product Diff.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365760" y="3840480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IEPE piezoelectric sensors, force sensors, accelerometers, traffic monitoring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274320" y="4270248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4315968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Retention Signals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365760" y="454456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663440" y="749808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754880" y="795528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Headcount &amp; Hiring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4754880" y="102412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4663440" y="1453896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754880" y="1499616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Funding &amp; Runway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754880" y="1728216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663440" y="2157984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754880" y="2203704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ICP &amp; Segment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4754880" y="2432304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Industrial manufacturers requiring force, pressure, acceleration measurement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663440" y="2862072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754880" y="2907792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Messaging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4754880" y="3136392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measurement technology solutions for industrial applications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663440" y="3566160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754880" y="3611880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Latest News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4754880" y="3840480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eso GmbH fully merged with Kistler in March 2021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411480" y="484632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 ADVISORY |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8979408" cy="640080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731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| COMPETITOR DEEP DIVE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11480" y="32004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synventive.com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114800" y="109728"/>
            <a:ext cx="4754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 | https://www.synventive.com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858000" y="73152"/>
            <a:ext cx="1097280" cy="50292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0" y="109728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50/100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58000" y="329184"/>
            <a:ext cx="1097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INNOVATION</a:t>
            </a:r>
            <a:endParaRPr lang="en-US" sz="700" dirty="0"/>
          </a:p>
        </p:txBody>
      </p:sp>
      <p:sp>
        <p:nvSpPr>
          <p:cNvPr id="10" name="Shape 8"/>
          <p:cNvSpPr/>
          <p:nvPr/>
        </p:nvSpPr>
        <p:spPr>
          <a:xfrm>
            <a:off x="8046720" y="73152"/>
            <a:ext cx="914400" cy="50292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46720" y="201168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MEDIUM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8046720" y="402336"/>
            <a:ext cx="914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THREAT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274320" y="749808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795528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Revenue &amp; Growth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65760" y="102412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274320" y="1453896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1499616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Market Share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65760" y="1728216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World's leading manufacturer of hot runner systems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74320" y="2157984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2203704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Pricing Model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65760" y="2432304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Opaque pricing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274320" y="2862072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2907792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CAC &amp; Channels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65760" y="3136392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 marketing, product education, landing pages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274320" y="3566160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611880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Product Diff.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365760" y="3840480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Hot runner systems, IntelliGate digital sensor technology, flow control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274320" y="4270248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4315968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Retention Signals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365760" y="454456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663440" y="749808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754880" y="795528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Headcount &amp; Hiring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4754880" y="102412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4663440" y="1453896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754880" y="1499616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Funding &amp; Runway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754880" y="1728216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663440" y="2157984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754880" y="2203704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ICP &amp; Segment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4754880" y="2432304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Plastics injection molding manufacturers seeking efficiency gains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663440" y="2862072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754880" y="2907792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Messaging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4754880" y="3136392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Mold a better tomorrow with sophisticated hot runner solutions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663440" y="3566160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754880" y="3611880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Latest News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4754880" y="3840480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Launched new IntelliGate Hot Runner with digital sensor technology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411480" y="484632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 ADVISORY |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8979408" cy="640080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164592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| KPI COMPARISON MATRIX</a:t>
            </a:r>
            <a:endParaRPr lang="en-US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92608" y="713232"/>
          <a:ext cx="8549640" cy="4114800"/>
        </p:xfrm>
        <a:graphic>
          <a:graphicData uri="http://schemas.openxmlformats.org/drawingml/2006/table">
            <a:tbl>
              <a:tblPr/>
              <a:tblGrid>
                <a:gridCol w="1709928"/>
                <a:gridCol w="1709928"/>
                <a:gridCol w="1709928"/>
                <a:gridCol w="1709928"/>
                <a:gridCol w="1709928"/>
              </a:tblGrid>
              <a:tr h="3429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5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4AF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Mesh Bioplastics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5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rjg.com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5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kistler.com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5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synventive.com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557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Revenue &amp; Growth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Market Share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Emerging — unique segment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World's leading manufacturer of hot runner systems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Pricing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Opaque pricing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Opaque pricing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Opaque pricing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CAC &amp; Channels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Direct enterprise / partner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Direct contact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Product finder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Content marketing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Product Diff.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VariControl + bioplastics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Trademark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IEPE piezoelectric sensors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Hot runner systems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Retention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Co-dev creates lock-in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Avvo 10.0 rating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Headcount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Early stage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Pre-seed / seeking raise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ICP &amp; Segment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Healthcare + industrial MFG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Entertainment industry producers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Industrial manufacturers requiring force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Plastics injection molding manufacturers seeking efficiency gains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Messaging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 + sustainability platform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Intellectual property and entertainment law expertise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Advanced measurement technology solutions for industrial applications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Mold a better tomorrow with sophisticated hot runner solutions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Latest News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recent news found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eso GmbH fully merged with Kistler in March 2021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Launched new IntelliGate Hot Runner with digital sensor technology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11480" y="484632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 ADVISORY |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8979408" cy="640080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164592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| STRATEGIC RECOMMENDATIONS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292608" y="749808"/>
            <a:ext cx="2788920" cy="3931920"/>
          </a:xfrm>
          <a:prstGeom prst="rect">
            <a:avLst/>
          </a:prstGeom>
          <a:solidFill>
            <a:srgbClr val="EFF8F0"/>
          </a:solidFill>
          <a:ln w="12700">
            <a:solidFill>
              <a:srgbClr val="CCCCC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92608" y="749808"/>
            <a:ext cx="2788920" cy="384048"/>
          </a:xfrm>
          <a:prstGeom prst="rect">
            <a:avLst/>
          </a:prstGeom>
          <a:solidFill>
            <a:srgbClr val="2D6A4F"/>
          </a:solidFill>
          <a:ln w="12700">
            <a:solidFill>
              <a:srgbClr val="2D6A4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804672"/>
            <a:ext cx="2606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264408" y="749808"/>
            <a:ext cx="2788920" cy="3931920"/>
          </a:xfrm>
          <a:prstGeom prst="rect">
            <a:avLst/>
          </a:prstGeom>
          <a:solidFill>
            <a:srgbClr val="FDF0F0"/>
          </a:solidFill>
          <a:ln w="12700">
            <a:solidFill>
              <a:srgbClr val="CCCCC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264408" y="749808"/>
            <a:ext cx="2788920" cy="384048"/>
          </a:xfrm>
          <a:prstGeom prst="rect">
            <a:avLst/>
          </a:prstGeom>
          <a:solidFill>
            <a:srgbClr val="CC3333"/>
          </a:solidFill>
          <a:ln w="12700">
            <a:solidFill>
              <a:srgbClr val="CC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355848" y="804672"/>
            <a:ext cx="2606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DEFEND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36208" y="749808"/>
            <a:ext cx="2788920" cy="3931920"/>
          </a:xfrm>
          <a:prstGeom prst="rect">
            <a:avLst/>
          </a:prstGeom>
          <a:solidFill>
            <a:srgbClr val="F0F4FF"/>
          </a:solidFill>
          <a:ln w="12700">
            <a:solidFill>
              <a:srgbClr val="CCCCC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236208" y="749808"/>
            <a:ext cx="2788920" cy="38404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27648" y="804672"/>
            <a:ext cx="2606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POSITION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11480" y="484632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 ADVISORY |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D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137160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ADVISORY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200400" y="2377440"/>
            <a:ext cx="2743200" cy="4572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2560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Precision intelligence for B2B sales teams.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11480" y="3017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 about this report? Contact your Stratledger advisor.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11480" y="3474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stratledger.com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Stratledger Competitive Intelligence — Mesh Bioplastics</dc:title>
  <dc:subject>PptxGenJS Presentation</dc:subject>
  <dc:creator>PptxGenJS</dc:creator>
  <cp:lastModifiedBy>PptxGenJS</cp:lastModifiedBy>
  <cp:revision>1</cp:revision>
  <dcterms:created xsi:type="dcterms:W3CDTF">2026-04-13T14:37:47Z</dcterms:created>
  <dcterms:modified xsi:type="dcterms:W3CDTF">2026-04-13T14:37:47Z</dcterms:modified>
</cp:coreProperties>
</file>