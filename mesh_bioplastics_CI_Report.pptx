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45720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ADVISORY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1417320"/>
            <a:ext cx="2286000" cy="457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600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 INTELLIGENCE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11480" y="1965960"/>
            <a:ext cx="6400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Mesh Bioplastics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11480" y="31089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11480" y="3611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COMPETITORS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ANALYSED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606040" y="31089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606040" y="3611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EVALUATED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800600" y="31089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800600" y="3611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DEPTH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64592" y="4663440"/>
            <a:ext cx="8979408" cy="480060"/>
          </a:xfrm>
          <a:prstGeom prst="rect">
            <a:avLst/>
          </a:prstGeom>
          <a:solidFill>
            <a:srgbClr val="162840"/>
          </a:solidFill>
          <a:ln w="12700">
            <a:solidFill>
              <a:srgbClr val="1628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by Stratledger Advisory | 2026-04-13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858000" y="470916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320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200" kern="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 OF CONTENTS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822960"/>
            <a:ext cx="8412480" cy="36576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00584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09728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105156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Profile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128016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Overview of Mesh Bioplastics and their market position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11480" y="164592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164592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173736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05840" y="169164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Intelligence Framework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05840" y="192024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11 KPIs used to evaluate every competitor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11480" y="228600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228600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237744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05840" y="233172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 Landscape Map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05840" y="256032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4-quadrant positioning of all identified competitors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11480" y="292608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1480" y="292608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" y="301752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05840" y="297180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Competitor Deep Dives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05840" y="320040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profile per competitor across all 11 KPIs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11480" y="356616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1480" y="356616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1480" y="365760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005840" y="361188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Comparison Matrix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005840" y="384048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Side-by-side benchmarking across the competitive set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11480" y="420624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1480" y="420624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1480" y="429768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005840" y="425196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Recommendations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1005840" y="448056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Actionable findings and opportunities to exploit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09728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| CLIENT PROFILE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200400" y="91440"/>
            <a:ext cx="5760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Mesh Bioplastics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11480" y="82296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OVERVIEW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11480" y="1115568"/>
            <a:ext cx="5029200" cy="36576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234440"/>
            <a:ext cx="5029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[✉ info@meshbioplastics.com](mailto:info@meshbioplastics.com) [☎ +353 87 7654 771](tel:+353877654771)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**Industrial** **AI** &amp; Manufacturing Optimisation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📅 Meet us at MedTech Expo 2026 - Booth B14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[Learn more →](https://meshbioplastics.com/#)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 Revolutionising the future of plastic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High-performance, biodegradable materials designed for a circular future.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 AI-powered precision manufacturing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Using data and automation to improve quality, reduce waste, and support sustainability.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 Let's bui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11480" y="23317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STATED DIFFERENTIATOR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11480" y="2624328"/>
            <a:ext cx="5029200" cy="36576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2697480"/>
            <a:ext cx="45720" cy="9144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697480"/>
            <a:ext cx="4892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760720" y="777240"/>
            <a:ext cx="3063240" cy="192024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943600" y="86868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POSITIONING SCORES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943600" y="123444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75/100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943600" y="166420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 Innovation vs. Process Optimization Focus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43600" y="205740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75/100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943600" y="248716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End-to-End Integration vs. Point Solution Specialization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| INTELLIGENCE FRAMEWORK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777240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777240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923544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86968" y="82296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&amp; Growth Rate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86968" y="1069848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Absolute revenue, YoY trajectory, market momentum signals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11480" y="1435608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1435608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1581912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86968" y="1481328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Share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86968" y="1728216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Slice of TAM vs client and other players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11480" y="2093976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2093976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2240280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86968" y="2139696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 Model &amp; Structure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86968" y="2386584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Tiers, packaging, discount posture, and target margin signals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11480" y="2752344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1480" y="2752344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" y="2898648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86968" y="2798064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CAC &amp; Acquisition Channels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86968" y="3044952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Paid, SEO, partnerships, outbound — and relative investment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11480" y="3410712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1480" y="3410712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1480" y="3557016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86968" y="3456432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/ Feature Diff.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86968" y="3703320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capabilities gap analysis vs the client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11480" y="4069080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1480" y="4069080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1480" y="4215384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86968" y="411480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Retention Signals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86968" y="4361688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NPS proxies, G2/Trustpilot reviews, churn indicators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800600" y="777240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800600" y="777240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00600" y="923544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276088" y="82296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Headcount &amp; Hiring Velocity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276088" y="1069848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LinkedIn trends, open roles, departmental growth signals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00600" y="1435608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800600" y="1435608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00600" y="1581912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276088" y="1481328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Funding &amp; Burn Rate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5276088" y="1728216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Raise history, total capital, implied runway and threat level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00600" y="2093976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800600" y="2093976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00600" y="2240280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5276088" y="2139696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ICP &amp; Target Segment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276088" y="2386584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Firmographic and persona overlap with client's ICP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00600" y="2752344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800600" y="2752344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00600" y="2898648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276088" y="2798064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Messaging &amp; Positioning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5276088" y="3044952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Homepage value proposition, tagline, and strategic intent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800600" y="3410712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800600" y="3410712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800600" y="3557016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5276088" y="3456432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Latest News &amp; Developments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5276088" y="3703320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Press releases, product launches, partnerships, leadership changes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| COMPETITIVE LANDSCAPE MAP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97280" y="777240"/>
            <a:ext cx="3291840" cy="1920240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389120" y="777240"/>
            <a:ext cx="3291840" cy="1920240"/>
          </a:xfrm>
          <a:prstGeom prst="rect">
            <a:avLst/>
          </a:prstGeom>
          <a:solidFill>
            <a:srgbClr val="EFF8F0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" y="2697480"/>
            <a:ext cx="3291840" cy="1920240"/>
          </a:xfrm>
          <a:prstGeom prst="rect">
            <a:avLst/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389120" y="2697480"/>
            <a:ext cx="3291840" cy="1920240"/>
          </a:xfrm>
          <a:prstGeom prst="rect">
            <a:avLst/>
          </a:prstGeom>
          <a:solidFill>
            <a:srgbClr val="F9F5E8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0" y="86868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480560" y="86868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THREATS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88720" y="278892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PERIPHERAL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480560" y="278892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LIST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389120" y="777240"/>
            <a:ext cx="0" cy="3840480"/>
          </a:xfrm>
          <a:prstGeom prst="line">
            <a:avLst/>
          </a:prstGeom>
          <a:noFill/>
          <a:ln w="12700">
            <a:solidFill>
              <a:srgbClr val="CCCCCC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1097280" y="2697480"/>
            <a:ext cx="658368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1097280" y="685800"/>
            <a:ext cx="6583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HIGH HIGH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97280" y="4636008"/>
            <a:ext cx="6583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LOW ▼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82880" y="25603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◄ LOW LOW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7726680" y="256032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HIGH ►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907024" y="1609344"/>
            <a:ext cx="256032" cy="256032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559552" y="1883664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Mesh Bioplastics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279392" y="2587752"/>
            <a:ext cx="219456" cy="219456"/>
          </a:xfrm>
          <a:prstGeom prst="ellipse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913632" y="2825496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rjginc.com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279392" y="2587752"/>
            <a:ext cx="219456" cy="219456"/>
          </a:xfrm>
          <a:prstGeom prst="ellipse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913632" y="2825496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kistler.com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279392" y="2587752"/>
            <a:ext cx="219456" cy="219456"/>
          </a:xfrm>
          <a:prstGeom prst="ellipse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913632" y="2825496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synventive.com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955280" y="91440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LEGEND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955280" y="1143000"/>
            <a:ext cx="164592" cy="164592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183880" y="1143000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Company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973568" y="1389888"/>
            <a:ext cx="146304" cy="146304"/>
          </a:xfrm>
          <a:prstGeom prst="ellipse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183880" y="1371600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Competitor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731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| COMPETITOR DEEP DIVE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3200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rjginc.com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114800" y="109728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 | https://www.rjginc.com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858000" y="73152"/>
            <a:ext cx="109728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109728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50/100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0" y="329184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8046720" y="73152"/>
            <a:ext cx="91440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0" y="201168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046720" y="402336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7432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Revenue &amp; Growth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7432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Market Share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6576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Pricing Model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Opaque pricing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CAC &amp; Channels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576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Analytics, Google Tag Manager, organic search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Product Diff.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6576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427024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431596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Retention Signals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65760" y="454456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66344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Headcount &amp; Hiring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75488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66344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5488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Funding &amp; Runway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66344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5488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ICP &amp; Segment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75488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5488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Messaging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75488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66344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5488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Latest News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75488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recent news found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731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| COMPETITOR DEEP DIVE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3200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kistler.com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114800" y="109728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Sindelfingen, Germany | https://www.kistler.com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858000" y="73152"/>
            <a:ext cx="109728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109728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50/100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0" y="329184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8046720" y="73152"/>
            <a:ext cx="91440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0" y="201168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046720" y="402336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7432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Revenue &amp; Growth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7432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Market Share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6576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Pricing Model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Opaque pricing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CAC &amp; Channels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576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finder, direct website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Product Diff.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6576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Piezoelectric sensors, force sensors, accelerometers, IEPE technology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427024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431596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Retention Signals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65760" y="454456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66344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Headcount &amp; Hiring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75488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66344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5488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Funding &amp; Runway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66344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5488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ICP &amp; Segment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75488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Industrial measurement and testing applications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5488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Messaging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75488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measurement technology solutions for industry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66344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5488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Latest News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75488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eso GmbH merged with Kistler Instrumente GmbH in March 2021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731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| COMPETITOR DEEP DIVE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3200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synventive.com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114800" y="109728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 | https://www.synventive.com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858000" y="73152"/>
            <a:ext cx="109728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109728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50/100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0" y="329184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8046720" y="73152"/>
            <a:ext cx="91440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0" y="201168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046720" y="402336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7432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Revenue &amp; Growth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7432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Market Share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6576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Pricing Model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Opaque pricing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CAC &amp; Channels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576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website, product pages, landing pages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Product Diff.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6576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Hot runner systems, pin control technology, IntelliGate digital sensors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427024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431596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Retention Signals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65760" y="454456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66344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Headcount &amp; Hiring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75488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66344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5488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Funding &amp; Runway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66344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5488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ICP &amp; Segment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75488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Injection molding manufacturers and mold designers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5488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Messaging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75488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Mold a better tomorrow with advanced hot runner solutions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66344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5488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Latest News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75488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Launched new IntelliGate Hot Runner with digital sensor technology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| KPI COMPARISON MATRIX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92608" y="713232"/>
          <a:ext cx="8549640" cy="4114800"/>
        </p:xfrm>
        <a:graphic>
          <a:graphicData uri="http://schemas.openxmlformats.org/drawingml/2006/table">
            <a:tbl>
              <a:tblPr/>
              <a:tblGrid>
                <a:gridCol w="1709928"/>
                <a:gridCol w="1709928"/>
                <a:gridCol w="1709928"/>
                <a:gridCol w="1709928"/>
                <a:gridCol w="1709928"/>
              </a:tblGrid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4AF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Mesh Bioplastics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rjginc.com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kistler.com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synventive.com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Revenue &amp; Growth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Market Share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Emerging — unique segment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Opaque pricing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Opaque pricing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Opaque pricing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CAC &amp; Channels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Direct enterprise / partner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 Analytics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 finder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Direct website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 Diff.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VariControl + bioplastics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Piezoelectric sensors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Hot runner systems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Retention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Co-dev creates lock-in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Headcount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Early stage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Pre-seed / seeking raise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ICP &amp; Segment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Healthcare + industrial MFG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Industrial measurement and testing applications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Injection molding manufacturers and mold designers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Messaging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+ sustainability platform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Advanced measurement technology solutions for industry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Mold a better tomorrow with advanced hot runner solutions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Latest News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recent news found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eso GmbH merged with Kistler Instrumente GmbH in March 2021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Launched new IntelliGate Hot Runner with digital sensor technology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| STRATEGIC RECOMMENDATIONS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92608" y="749808"/>
            <a:ext cx="2788920" cy="3931920"/>
          </a:xfrm>
          <a:prstGeom prst="rect">
            <a:avLst/>
          </a:prstGeom>
          <a:solidFill>
            <a:srgbClr val="EFF8F0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92608" y="749808"/>
            <a:ext cx="2788920" cy="384048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804672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64408" y="749808"/>
            <a:ext cx="2788920" cy="3931920"/>
          </a:xfrm>
          <a:prstGeom prst="rect">
            <a:avLst/>
          </a:prstGeom>
          <a:solidFill>
            <a:srgbClr val="FDF0F0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64408" y="749808"/>
            <a:ext cx="2788920" cy="384048"/>
          </a:xfrm>
          <a:prstGeom prst="rect">
            <a:avLst/>
          </a:prstGeom>
          <a:solidFill>
            <a:srgbClr val="CC3333"/>
          </a:solidFill>
          <a:ln w="12700">
            <a:solidFill>
              <a:srgbClr val="CC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55848" y="804672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DEFEND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6208" y="749808"/>
            <a:ext cx="2788920" cy="3931920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236208" y="749808"/>
            <a:ext cx="2788920" cy="38404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27648" y="804672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D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3716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ADVISORY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0" y="2377440"/>
            <a:ext cx="2743200" cy="457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2560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Precision intelligence for B2B sales teams.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11480" y="3017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about this report? Contact your Stratledger advisor.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3474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Stratledger Competitive Intelligence — Mesh Bioplastics</dc:title>
  <dc:subject>PptxGenJS Presentation</dc:subject>
  <dc:creator>PptxGenJS</dc:creator>
  <cp:lastModifiedBy>PptxGenJS</cp:lastModifiedBy>
  <cp:revision>1</cp:revision>
  <dcterms:created xsi:type="dcterms:W3CDTF">2026-04-13T14:57:15Z</dcterms:created>
  <dcterms:modified xsi:type="dcterms:W3CDTF">2026-04-13T14:57:15Z</dcterms:modified>
</cp:coreProperties>
</file>