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D355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457200"/>
            <a:ext cx="3200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STRATLEDGER</a:t>
            </a: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ADVISORY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411480" y="1417320"/>
            <a:ext cx="2286000" cy="45720"/>
          </a:xfrm>
          <a:prstGeom prst="rect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11480" y="160020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COMPETITIVE INTELLIGENCE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11480" y="1965960"/>
            <a:ext cx="6400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Mesh Bioplastics</a:t>
            </a:r>
            <a:endParaRPr lang="en-US" sz="4000" dirty="0"/>
          </a:p>
        </p:txBody>
      </p:sp>
      <p:sp>
        <p:nvSpPr>
          <p:cNvPr id="7" name="Text 5"/>
          <p:cNvSpPr/>
          <p:nvPr/>
        </p:nvSpPr>
        <p:spPr>
          <a:xfrm>
            <a:off x="411480" y="3108960"/>
            <a:ext cx="1828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2800" dirty="0"/>
          </a:p>
        </p:txBody>
      </p:sp>
      <p:sp>
        <p:nvSpPr>
          <p:cNvPr id="8" name="Text 6"/>
          <p:cNvSpPr/>
          <p:nvPr/>
        </p:nvSpPr>
        <p:spPr>
          <a:xfrm>
            <a:off x="411480" y="361188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ABB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COMPETITORS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AABB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ANALYSED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2606040" y="3108960"/>
            <a:ext cx="1828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2606040" y="361188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ABB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KPIs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AABB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EVALUATED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4800600" y="3108960"/>
            <a:ext cx="1828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DEEP</a:t>
            </a:r>
            <a:endParaRPr lang="en-US" sz="2800" dirty="0"/>
          </a:p>
        </p:txBody>
      </p:sp>
      <p:sp>
        <p:nvSpPr>
          <p:cNvPr id="12" name="Text 10"/>
          <p:cNvSpPr/>
          <p:nvPr/>
        </p:nvSpPr>
        <p:spPr>
          <a:xfrm>
            <a:off x="4800600" y="361188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ABB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INTEL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AABB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DEPTH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164592" y="4663440"/>
            <a:ext cx="8979408" cy="480060"/>
          </a:xfrm>
          <a:prstGeom prst="rect">
            <a:avLst/>
          </a:prstGeom>
          <a:solidFill>
            <a:srgbClr val="162840"/>
          </a:solidFill>
          <a:ln w="12700">
            <a:solidFill>
              <a:srgbClr val="16284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11480" y="470916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ABB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Prepared by Stratledger Advisory | 2026-04-13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6858000" y="4709160"/>
            <a:ext cx="2103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stratledger.com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5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32004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spc="200" kern="0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TABLE OF CONTENTS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411480" y="822960"/>
            <a:ext cx="8412480" cy="36576"/>
          </a:xfrm>
          <a:prstGeom prst="rect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11480" y="1005840"/>
            <a:ext cx="8412480" cy="530352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11480" y="1005840"/>
            <a:ext cx="502920" cy="530352"/>
          </a:xfrm>
          <a:prstGeom prst="rect">
            <a:avLst/>
          </a:prstGeom>
          <a:solidFill>
            <a:srgbClr val="1D3557"/>
          </a:solidFill>
          <a:ln w="12700">
            <a:solidFill>
              <a:srgbClr val="1D355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11480" y="1097280"/>
            <a:ext cx="5029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005840" y="1051560"/>
            <a:ext cx="3200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Client Profile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1280160"/>
            <a:ext cx="75895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Overview of Mesh Bioplastics and their market position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11480" y="1645920"/>
            <a:ext cx="8412480" cy="530352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11480" y="1645920"/>
            <a:ext cx="502920" cy="530352"/>
          </a:xfrm>
          <a:prstGeom prst="rect">
            <a:avLst/>
          </a:prstGeom>
          <a:solidFill>
            <a:srgbClr val="1D3557"/>
          </a:solidFill>
          <a:ln w="12700">
            <a:solidFill>
              <a:srgbClr val="1D3557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11480" y="1737360"/>
            <a:ext cx="5029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005840" y="1691640"/>
            <a:ext cx="3200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Intelligence Framework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1005840" y="1920240"/>
            <a:ext cx="75895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11 KPIs used to evaluate every competitor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11480" y="2286000"/>
            <a:ext cx="8412480" cy="530352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2286000"/>
            <a:ext cx="502920" cy="530352"/>
          </a:xfrm>
          <a:prstGeom prst="rect">
            <a:avLst/>
          </a:prstGeom>
          <a:solidFill>
            <a:srgbClr val="1D3557"/>
          </a:solidFill>
          <a:ln w="12700">
            <a:solidFill>
              <a:srgbClr val="1D3557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11480" y="2377440"/>
            <a:ext cx="5029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005840" y="2331720"/>
            <a:ext cx="3200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Competitive Landscape Map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1005840" y="2560320"/>
            <a:ext cx="75895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4-quadrant positioning of all identified competitors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411480" y="2926080"/>
            <a:ext cx="8412480" cy="530352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11480" y="2926080"/>
            <a:ext cx="502920" cy="530352"/>
          </a:xfrm>
          <a:prstGeom prst="rect">
            <a:avLst/>
          </a:prstGeom>
          <a:solidFill>
            <a:srgbClr val="1D3557"/>
          </a:solidFill>
          <a:ln w="12700">
            <a:solidFill>
              <a:srgbClr val="1D3557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11480" y="3017520"/>
            <a:ext cx="5029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1005840" y="2971800"/>
            <a:ext cx="3200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Competitor Deep Dives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1005840" y="3200400"/>
            <a:ext cx="75895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Full profile per competitor across all 11 KPIs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411480" y="3566160"/>
            <a:ext cx="8412480" cy="530352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411480" y="3566160"/>
            <a:ext cx="502920" cy="530352"/>
          </a:xfrm>
          <a:prstGeom prst="rect">
            <a:avLst/>
          </a:prstGeom>
          <a:solidFill>
            <a:srgbClr val="1D3557"/>
          </a:solidFill>
          <a:ln w="12700">
            <a:solidFill>
              <a:srgbClr val="1D3557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11480" y="3657600"/>
            <a:ext cx="5029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1005840" y="3611880"/>
            <a:ext cx="3200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KPI Comparison Matrix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1005840" y="3840480"/>
            <a:ext cx="75895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Side-by-side benchmarking across the competitive set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411480" y="4206240"/>
            <a:ext cx="8412480" cy="530352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411480" y="4206240"/>
            <a:ext cx="502920" cy="530352"/>
          </a:xfrm>
          <a:prstGeom prst="rect">
            <a:avLst/>
          </a:prstGeom>
          <a:solidFill>
            <a:srgbClr val="1D3557"/>
          </a:solidFill>
          <a:ln w="12700">
            <a:solidFill>
              <a:srgbClr val="1D3557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11480" y="4297680"/>
            <a:ext cx="5029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1005840" y="4251960"/>
            <a:ext cx="3200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Strategic Recommendations</a:t>
            </a:r>
            <a:endParaRPr lang="en-US" sz="1300" dirty="0"/>
          </a:p>
        </p:txBody>
      </p:sp>
      <p:sp>
        <p:nvSpPr>
          <p:cNvPr id="34" name="Text 32"/>
          <p:cNvSpPr/>
          <p:nvPr/>
        </p:nvSpPr>
        <p:spPr>
          <a:xfrm>
            <a:off x="1005840" y="4480560"/>
            <a:ext cx="75895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Actionable findings and opportunities to exploit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411480" y="4846320"/>
            <a:ext cx="8412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STRATLEDGER ADVISORY |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64592" y="0"/>
            <a:ext cx="8979408" cy="640080"/>
          </a:xfrm>
          <a:prstGeom prst="rect">
            <a:avLst/>
          </a:prstGeom>
          <a:solidFill>
            <a:srgbClr val="1D3557"/>
          </a:solidFill>
          <a:ln w="12700">
            <a:solidFill>
              <a:srgbClr val="1D3557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11480" y="109728"/>
            <a:ext cx="4572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 | CLIENT PROFILE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3200400" y="91440"/>
            <a:ext cx="5760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Mesh Bioplastics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411480" y="822960"/>
            <a:ext cx="5029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OVERVIEW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411480" y="1115568"/>
            <a:ext cx="5029200" cy="36576"/>
          </a:xfrm>
          <a:prstGeom prst="rect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11480" y="1234440"/>
            <a:ext cx="50292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[✉ info@meshbioplastics.com](mailto:info@meshbioplastics.com) [☎ +353 87 7654 771](tel:+353877654771)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**Industrial** **AI** &amp; Manufacturing Optimisation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📅 Meet us at MedTech Expo 2026 - Booth B14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[Learn more →](https://meshbioplastics.com/#)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 Revolutionising the future of plastic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High-performance, biodegradable materials designed for a circular future.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 AI-powered precision manufacturing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Using data and automation to improve quality, reduce waste, and support sustainability.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 Let's bui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11480" y="2331720"/>
            <a:ext cx="5029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STATED DIFFERENTIATOR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11480" y="2624328"/>
            <a:ext cx="5029200" cy="36576"/>
          </a:xfrm>
          <a:prstGeom prst="rect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11480" y="2697480"/>
            <a:ext cx="45720" cy="914400"/>
          </a:xfrm>
          <a:prstGeom prst="rect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48640" y="2697480"/>
            <a:ext cx="48920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5760720" y="777240"/>
            <a:ext cx="3063240" cy="1920240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5943600" y="868680"/>
            <a:ext cx="2651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POSITIONING SCORES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5943600" y="1234440"/>
            <a:ext cx="2560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75/100</a:t>
            </a:r>
            <a:endParaRPr lang="en-US" sz="2200" dirty="0"/>
          </a:p>
        </p:txBody>
      </p:sp>
      <p:sp>
        <p:nvSpPr>
          <p:cNvPr id="16" name="Text 14"/>
          <p:cNvSpPr/>
          <p:nvPr/>
        </p:nvSpPr>
        <p:spPr>
          <a:xfrm>
            <a:off x="5943600" y="1664208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Material Innovation vs. Process Control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5943600" y="2057400"/>
            <a:ext cx="2560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75/100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5943600" y="2487168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End-to-End Integration vs. Point Solutions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411480" y="4846320"/>
            <a:ext cx="8412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STRATLEDGER ADVISORY |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64592" y="0"/>
            <a:ext cx="8979408" cy="640080"/>
          </a:xfrm>
          <a:prstGeom prst="rect">
            <a:avLst/>
          </a:prstGeom>
          <a:solidFill>
            <a:srgbClr val="1D3557"/>
          </a:solidFill>
          <a:ln w="12700">
            <a:solidFill>
              <a:srgbClr val="1D3557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11480" y="164592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| INTELLIGENCE FRAMEWORK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11480" y="777240"/>
            <a:ext cx="4160520" cy="566928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11480" y="777240"/>
            <a:ext cx="384048" cy="566928"/>
          </a:xfrm>
          <a:prstGeom prst="rect">
            <a:avLst/>
          </a:prstGeom>
          <a:solidFill>
            <a:srgbClr val="1D3557"/>
          </a:solidFill>
          <a:ln w="12700">
            <a:solidFill>
              <a:srgbClr val="1D355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11480" y="923544"/>
            <a:ext cx="38404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886968" y="822960"/>
            <a:ext cx="3566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Revenue &amp; Growth Rate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886968" y="1069848"/>
            <a:ext cx="35661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Absolute revenue, YoY trajectory, market momentum signals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411480" y="1435608"/>
            <a:ext cx="4160520" cy="566928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11480" y="1435608"/>
            <a:ext cx="384048" cy="566928"/>
          </a:xfrm>
          <a:prstGeom prst="rect">
            <a:avLst/>
          </a:prstGeom>
          <a:solidFill>
            <a:srgbClr val="1D3557"/>
          </a:solidFill>
          <a:ln w="12700">
            <a:solidFill>
              <a:srgbClr val="1D3557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11480" y="1581912"/>
            <a:ext cx="38404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886968" y="1481328"/>
            <a:ext cx="3566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Market Share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886968" y="1728216"/>
            <a:ext cx="35661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Slice of TAM vs client and other players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411480" y="2093976"/>
            <a:ext cx="4160520" cy="566928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2093976"/>
            <a:ext cx="384048" cy="566928"/>
          </a:xfrm>
          <a:prstGeom prst="rect">
            <a:avLst/>
          </a:prstGeom>
          <a:solidFill>
            <a:srgbClr val="1D3557"/>
          </a:solidFill>
          <a:ln w="12700">
            <a:solidFill>
              <a:srgbClr val="1D3557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11480" y="2240280"/>
            <a:ext cx="38404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886968" y="2139696"/>
            <a:ext cx="3566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Pricing Model &amp; Structure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886968" y="2386584"/>
            <a:ext cx="35661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Tiers, packaging, discount posture, and target margin signals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411480" y="2752344"/>
            <a:ext cx="4160520" cy="566928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11480" y="2752344"/>
            <a:ext cx="384048" cy="566928"/>
          </a:xfrm>
          <a:prstGeom prst="rect">
            <a:avLst/>
          </a:prstGeom>
          <a:solidFill>
            <a:srgbClr val="1D3557"/>
          </a:solidFill>
          <a:ln w="12700">
            <a:solidFill>
              <a:srgbClr val="1D3557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11480" y="2898648"/>
            <a:ext cx="38404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886968" y="2798064"/>
            <a:ext cx="3566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CAC &amp; Acquisition Channels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886968" y="3044952"/>
            <a:ext cx="35661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Paid, SEO, partnerships, outbound — and relative investment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411480" y="3410712"/>
            <a:ext cx="4160520" cy="566928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411480" y="3410712"/>
            <a:ext cx="384048" cy="566928"/>
          </a:xfrm>
          <a:prstGeom prst="rect">
            <a:avLst/>
          </a:prstGeom>
          <a:solidFill>
            <a:srgbClr val="1D3557"/>
          </a:solidFill>
          <a:ln w="12700">
            <a:solidFill>
              <a:srgbClr val="1D3557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11480" y="3557016"/>
            <a:ext cx="38404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886968" y="3456432"/>
            <a:ext cx="3566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 / Feature Diff.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886968" y="3703320"/>
            <a:ext cx="35661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Core capabilities gap analysis vs the client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411480" y="4069080"/>
            <a:ext cx="4160520" cy="566928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411480" y="4069080"/>
            <a:ext cx="384048" cy="566928"/>
          </a:xfrm>
          <a:prstGeom prst="rect">
            <a:avLst/>
          </a:prstGeom>
          <a:solidFill>
            <a:srgbClr val="1D3557"/>
          </a:solidFill>
          <a:ln w="12700">
            <a:solidFill>
              <a:srgbClr val="1D3557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11480" y="4215384"/>
            <a:ext cx="38404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886968" y="4114800"/>
            <a:ext cx="3566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Customer Retention Signals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886968" y="4361688"/>
            <a:ext cx="35661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NPS proxies, G2/Trustpilot reviews, churn indicators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4800600" y="777240"/>
            <a:ext cx="4160520" cy="566928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4800600" y="777240"/>
            <a:ext cx="384048" cy="566928"/>
          </a:xfrm>
          <a:prstGeom prst="rect">
            <a:avLst/>
          </a:prstGeom>
          <a:solidFill>
            <a:srgbClr val="1D3557"/>
          </a:solidFill>
          <a:ln w="12700">
            <a:solidFill>
              <a:srgbClr val="1D355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4800600" y="923544"/>
            <a:ext cx="38404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5276088" y="822960"/>
            <a:ext cx="3566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Headcount &amp; Hiring Velocity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5276088" y="1069848"/>
            <a:ext cx="35661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LinkedIn trends, open roles, departmental growth signals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4800600" y="1435608"/>
            <a:ext cx="4160520" cy="566928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4800600" y="1435608"/>
            <a:ext cx="384048" cy="566928"/>
          </a:xfrm>
          <a:prstGeom prst="rect">
            <a:avLst/>
          </a:prstGeom>
          <a:solidFill>
            <a:srgbClr val="1D3557"/>
          </a:solidFill>
          <a:ln w="12700">
            <a:solidFill>
              <a:srgbClr val="1D355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4800600" y="1581912"/>
            <a:ext cx="38404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100" dirty="0"/>
          </a:p>
        </p:txBody>
      </p:sp>
      <p:sp>
        <p:nvSpPr>
          <p:cNvPr id="43" name="Text 41"/>
          <p:cNvSpPr/>
          <p:nvPr/>
        </p:nvSpPr>
        <p:spPr>
          <a:xfrm>
            <a:off x="5276088" y="1481328"/>
            <a:ext cx="3566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Funding &amp; Burn Rate</a:t>
            </a:r>
            <a:endParaRPr lang="en-US" sz="1100" dirty="0"/>
          </a:p>
        </p:txBody>
      </p:sp>
      <p:sp>
        <p:nvSpPr>
          <p:cNvPr id="44" name="Text 42"/>
          <p:cNvSpPr/>
          <p:nvPr/>
        </p:nvSpPr>
        <p:spPr>
          <a:xfrm>
            <a:off x="5276088" y="1728216"/>
            <a:ext cx="35661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Raise history, total capital, implied runway and threat level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4800600" y="2093976"/>
            <a:ext cx="4160520" cy="566928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4800600" y="2093976"/>
            <a:ext cx="384048" cy="566928"/>
          </a:xfrm>
          <a:prstGeom prst="rect">
            <a:avLst/>
          </a:prstGeom>
          <a:solidFill>
            <a:srgbClr val="1D3557"/>
          </a:solidFill>
          <a:ln w="12700">
            <a:solidFill>
              <a:srgbClr val="1D355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4800600" y="2240280"/>
            <a:ext cx="38404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100" dirty="0"/>
          </a:p>
        </p:txBody>
      </p:sp>
      <p:sp>
        <p:nvSpPr>
          <p:cNvPr id="48" name="Text 46"/>
          <p:cNvSpPr/>
          <p:nvPr/>
        </p:nvSpPr>
        <p:spPr>
          <a:xfrm>
            <a:off x="5276088" y="2139696"/>
            <a:ext cx="3566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ICP &amp; Target Segment</a:t>
            </a:r>
            <a:endParaRPr lang="en-US" sz="1100" dirty="0"/>
          </a:p>
        </p:txBody>
      </p:sp>
      <p:sp>
        <p:nvSpPr>
          <p:cNvPr id="49" name="Text 47"/>
          <p:cNvSpPr/>
          <p:nvPr/>
        </p:nvSpPr>
        <p:spPr>
          <a:xfrm>
            <a:off x="5276088" y="2386584"/>
            <a:ext cx="35661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Firmographic and persona overlap with client's ICP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4800600" y="2752344"/>
            <a:ext cx="4160520" cy="566928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4800600" y="2752344"/>
            <a:ext cx="384048" cy="566928"/>
          </a:xfrm>
          <a:prstGeom prst="rect">
            <a:avLst/>
          </a:prstGeom>
          <a:solidFill>
            <a:srgbClr val="1D3557"/>
          </a:solidFill>
          <a:ln w="12700">
            <a:solidFill>
              <a:srgbClr val="1D355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4800600" y="2898648"/>
            <a:ext cx="38404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100" dirty="0"/>
          </a:p>
        </p:txBody>
      </p:sp>
      <p:sp>
        <p:nvSpPr>
          <p:cNvPr id="53" name="Text 51"/>
          <p:cNvSpPr/>
          <p:nvPr/>
        </p:nvSpPr>
        <p:spPr>
          <a:xfrm>
            <a:off x="5276088" y="2798064"/>
            <a:ext cx="3566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Messaging &amp; Positioning</a:t>
            </a:r>
            <a:endParaRPr lang="en-US" sz="1100" dirty="0"/>
          </a:p>
        </p:txBody>
      </p:sp>
      <p:sp>
        <p:nvSpPr>
          <p:cNvPr id="54" name="Text 52"/>
          <p:cNvSpPr/>
          <p:nvPr/>
        </p:nvSpPr>
        <p:spPr>
          <a:xfrm>
            <a:off x="5276088" y="3044952"/>
            <a:ext cx="35661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Homepage value proposition, tagline, and strategic intent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4800600" y="3410712"/>
            <a:ext cx="4160520" cy="566928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4800600" y="3410712"/>
            <a:ext cx="384048" cy="566928"/>
          </a:xfrm>
          <a:prstGeom prst="rect">
            <a:avLst/>
          </a:prstGeom>
          <a:solidFill>
            <a:srgbClr val="1D3557"/>
          </a:solidFill>
          <a:ln w="12700">
            <a:solidFill>
              <a:srgbClr val="1D3557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800600" y="3557016"/>
            <a:ext cx="38404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100" dirty="0"/>
          </a:p>
        </p:txBody>
      </p:sp>
      <p:sp>
        <p:nvSpPr>
          <p:cNvPr id="58" name="Text 56"/>
          <p:cNvSpPr/>
          <p:nvPr/>
        </p:nvSpPr>
        <p:spPr>
          <a:xfrm>
            <a:off x="5276088" y="3456432"/>
            <a:ext cx="3566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Latest News &amp; Developments</a:t>
            </a:r>
            <a:endParaRPr lang="en-US" sz="1100" dirty="0"/>
          </a:p>
        </p:txBody>
      </p:sp>
      <p:sp>
        <p:nvSpPr>
          <p:cNvPr id="59" name="Text 57"/>
          <p:cNvSpPr/>
          <p:nvPr/>
        </p:nvSpPr>
        <p:spPr>
          <a:xfrm>
            <a:off x="5276088" y="3703320"/>
            <a:ext cx="35661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Press releases, product launches, partnerships, leadership changes</a:t>
            </a:r>
            <a:endParaRPr lang="en-US" sz="900" dirty="0"/>
          </a:p>
        </p:txBody>
      </p:sp>
      <p:sp>
        <p:nvSpPr>
          <p:cNvPr id="60" name="Text 58"/>
          <p:cNvSpPr/>
          <p:nvPr/>
        </p:nvSpPr>
        <p:spPr>
          <a:xfrm>
            <a:off x="411480" y="4846320"/>
            <a:ext cx="8412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STRATLEDGER ADVISORY |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64592" y="0"/>
            <a:ext cx="8979408" cy="640080"/>
          </a:xfrm>
          <a:prstGeom prst="rect">
            <a:avLst/>
          </a:prstGeom>
          <a:solidFill>
            <a:srgbClr val="1D3557"/>
          </a:solidFill>
          <a:ln w="12700">
            <a:solidFill>
              <a:srgbClr val="1D3557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11480" y="164592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| COMPETITIVE LANDSCAPE MAP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1097280" y="777240"/>
            <a:ext cx="3291840" cy="1920240"/>
          </a:xfrm>
          <a:prstGeom prst="rect">
            <a:avLst/>
          </a:prstGeom>
          <a:solidFill>
            <a:srgbClr val="F0F4FF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389120" y="777240"/>
            <a:ext cx="3291840" cy="1920240"/>
          </a:xfrm>
          <a:prstGeom prst="rect">
            <a:avLst/>
          </a:prstGeom>
          <a:solidFill>
            <a:srgbClr val="EFF8F0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097280" y="2697480"/>
            <a:ext cx="3291840" cy="1920240"/>
          </a:xfrm>
          <a:prstGeom prst="rect">
            <a:avLst/>
          </a:prstGeom>
          <a:solidFill>
            <a:srgbClr val="FAFAFA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389120" y="2697480"/>
            <a:ext cx="3291840" cy="1920240"/>
          </a:xfrm>
          <a:prstGeom prst="rect">
            <a:avLst/>
          </a:prstGeom>
          <a:solidFill>
            <a:srgbClr val="F9F5E8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188720" y="868680"/>
            <a:ext cx="31089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spc="200" kern="0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4480560" y="868680"/>
            <a:ext cx="31089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spc="200" kern="0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PRIMARY THREATS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1188720" y="2788920"/>
            <a:ext cx="31089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spc="200" kern="0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PERIPHERAL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4480560" y="2788920"/>
            <a:ext cx="31089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spc="200" kern="0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WATCH LIST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4389120" y="777240"/>
            <a:ext cx="0" cy="3840480"/>
          </a:xfrm>
          <a:prstGeom prst="line">
            <a:avLst/>
          </a:prstGeom>
          <a:noFill/>
          <a:ln w="12700">
            <a:solidFill>
              <a:srgbClr val="CCCCCC"/>
            </a:solidFill>
            <a:prstDash val="dash"/>
          </a:ln>
        </p:spPr>
      </p:sp>
      <p:sp>
        <p:nvSpPr>
          <p:cNvPr id="14" name="Shape 12"/>
          <p:cNvSpPr/>
          <p:nvPr/>
        </p:nvSpPr>
        <p:spPr>
          <a:xfrm>
            <a:off x="1097280" y="2697480"/>
            <a:ext cx="6583680" cy="0"/>
          </a:xfrm>
          <a:prstGeom prst="line">
            <a:avLst/>
          </a:prstGeom>
          <a:noFill/>
          <a:ln w="12700">
            <a:solidFill>
              <a:srgbClr val="CCCCCC"/>
            </a:solidFill>
            <a:prstDash val="dash"/>
          </a:ln>
        </p:spPr>
      </p:sp>
      <p:sp>
        <p:nvSpPr>
          <p:cNvPr id="15" name="Text 13"/>
          <p:cNvSpPr/>
          <p:nvPr/>
        </p:nvSpPr>
        <p:spPr>
          <a:xfrm>
            <a:off x="1097280" y="685800"/>
            <a:ext cx="65836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▲ HIGH HIGH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1097280" y="4636008"/>
            <a:ext cx="65836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LOW LOW ▼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182880" y="256032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◄ LOW LOW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7726680" y="2560320"/>
            <a:ext cx="1005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HIGH HIGH ►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5907024" y="1609344"/>
            <a:ext cx="256032" cy="256032"/>
          </a:xfrm>
          <a:prstGeom prst="rect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559552" y="1883664"/>
            <a:ext cx="10058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Mesh Bioplastics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4279392" y="2587752"/>
            <a:ext cx="219456" cy="219456"/>
          </a:xfrm>
          <a:prstGeom prst="ellipse">
            <a:avLst/>
          </a:prstGeom>
          <a:solidFill>
            <a:srgbClr val="1D3557"/>
          </a:solidFill>
          <a:ln w="12700">
            <a:solidFill>
              <a:srgbClr val="1D3557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3913632" y="2825496"/>
            <a:ext cx="10058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rjg.com</a:t>
            </a:r>
            <a:endParaRPr lang="en-US" sz="800" dirty="0"/>
          </a:p>
        </p:txBody>
      </p:sp>
      <p:sp>
        <p:nvSpPr>
          <p:cNvPr id="23" name="Shape 21"/>
          <p:cNvSpPr/>
          <p:nvPr/>
        </p:nvSpPr>
        <p:spPr>
          <a:xfrm>
            <a:off x="4279392" y="2587752"/>
            <a:ext cx="219456" cy="219456"/>
          </a:xfrm>
          <a:prstGeom prst="ellipse">
            <a:avLst/>
          </a:prstGeom>
          <a:solidFill>
            <a:srgbClr val="1D3557"/>
          </a:solidFill>
          <a:ln w="12700">
            <a:solidFill>
              <a:srgbClr val="1D3557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913632" y="2825496"/>
            <a:ext cx="10058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kistler.com</a:t>
            </a:r>
            <a:endParaRPr lang="en-US" sz="800" dirty="0"/>
          </a:p>
        </p:txBody>
      </p:sp>
      <p:sp>
        <p:nvSpPr>
          <p:cNvPr id="25" name="Shape 23"/>
          <p:cNvSpPr/>
          <p:nvPr/>
        </p:nvSpPr>
        <p:spPr>
          <a:xfrm>
            <a:off x="4279392" y="2587752"/>
            <a:ext cx="219456" cy="219456"/>
          </a:xfrm>
          <a:prstGeom prst="ellipse">
            <a:avLst/>
          </a:prstGeom>
          <a:solidFill>
            <a:srgbClr val="1D3557"/>
          </a:solidFill>
          <a:ln w="12700">
            <a:solidFill>
              <a:srgbClr val="1D3557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913632" y="2825496"/>
            <a:ext cx="10058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synventive.com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7955280" y="914400"/>
            <a:ext cx="914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LEGEND</a:t>
            </a:r>
            <a:endParaRPr lang="en-US" sz="800" dirty="0"/>
          </a:p>
        </p:txBody>
      </p:sp>
      <p:sp>
        <p:nvSpPr>
          <p:cNvPr id="28" name="Shape 26"/>
          <p:cNvSpPr/>
          <p:nvPr/>
        </p:nvSpPr>
        <p:spPr>
          <a:xfrm>
            <a:off x="7955280" y="1143000"/>
            <a:ext cx="164592" cy="164592"/>
          </a:xfrm>
          <a:prstGeom prst="rect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8183880" y="1143000"/>
            <a:ext cx="7315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Your Company</a:t>
            </a:r>
            <a:endParaRPr lang="en-US" sz="800" dirty="0"/>
          </a:p>
        </p:txBody>
      </p:sp>
      <p:sp>
        <p:nvSpPr>
          <p:cNvPr id="30" name="Shape 28"/>
          <p:cNvSpPr/>
          <p:nvPr/>
        </p:nvSpPr>
        <p:spPr>
          <a:xfrm>
            <a:off x="7973568" y="1389888"/>
            <a:ext cx="146304" cy="146304"/>
          </a:xfrm>
          <a:prstGeom prst="ellipse">
            <a:avLst/>
          </a:prstGeom>
          <a:solidFill>
            <a:srgbClr val="1D3557"/>
          </a:solidFill>
          <a:ln w="12700">
            <a:solidFill>
              <a:srgbClr val="1D3557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8183880" y="1371600"/>
            <a:ext cx="7315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Competitor</a:t>
            </a:r>
            <a:endParaRPr lang="en-US" sz="800" dirty="0"/>
          </a:p>
        </p:txBody>
      </p:sp>
      <p:sp>
        <p:nvSpPr>
          <p:cNvPr id="32" name="Text 30"/>
          <p:cNvSpPr/>
          <p:nvPr/>
        </p:nvSpPr>
        <p:spPr>
          <a:xfrm>
            <a:off x="411480" y="4846320"/>
            <a:ext cx="8412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STRATLEDGER ADVISORY |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64592" y="0"/>
            <a:ext cx="8979408" cy="640080"/>
          </a:xfrm>
          <a:prstGeom prst="rect">
            <a:avLst/>
          </a:prstGeom>
          <a:solidFill>
            <a:srgbClr val="1D3557"/>
          </a:solidFill>
          <a:ln w="12700">
            <a:solidFill>
              <a:srgbClr val="1D3557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11480" y="7315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| COMPETITOR DEEP DIVE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11480" y="32004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rjg.com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114800" y="109728"/>
            <a:ext cx="47548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ABB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Emeryville, California, USA | https://www.rjg.com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6858000" y="73152"/>
            <a:ext cx="1097280" cy="502920"/>
          </a:xfrm>
          <a:prstGeom prst="rect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858000" y="109728"/>
            <a:ext cx="10972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50/100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858000" y="329184"/>
            <a:ext cx="10972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INNOVATION</a:t>
            </a:r>
            <a:endParaRPr lang="en-US" sz="700" dirty="0"/>
          </a:p>
        </p:txBody>
      </p:sp>
      <p:sp>
        <p:nvSpPr>
          <p:cNvPr id="10" name="Shape 8"/>
          <p:cNvSpPr/>
          <p:nvPr/>
        </p:nvSpPr>
        <p:spPr>
          <a:xfrm>
            <a:off x="8046720" y="73152"/>
            <a:ext cx="914400" cy="502920"/>
          </a:xfrm>
          <a:prstGeom prst="rect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046720" y="201168"/>
            <a:ext cx="914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MEDIUM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8046720" y="402336"/>
            <a:ext cx="9144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THREAT</a:t>
            </a:r>
            <a:endParaRPr lang="en-US" sz="700" dirty="0"/>
          </a:p>
        </p:txBody>
      </p:sp>
      <p:sp>
        <p:nvSpPr>
          <p:cNvPr id="13" name="Shape 11"/>
          <p:cNvSpPr/>
          <p:nvPr/>
        </p:nvSpPr>
        <p:spPr>
          <a:xfrm>
            <a:off x="274320" y="749808"/>
            <a:ext cx="4206240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795528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 Revenue &amp; Growth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365760" y="1024128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Unknown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274320" y="1453896"/>
            <a:ext cx="4206240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1499616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Market Share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365760" y="1728216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Unknown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274320" y="2157984"/>
            <a:ext cx="4206240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2203704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Pricing Model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365760" y="2432304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Opaque pricing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274320" y="2862072"/>
            <a:ext cx="4206240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2907792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CAC &amp; Channels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365760" y="3136392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 contact, referrals from other attorneys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274320" y="3566160"/>
            <a:ext cx="4206240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611880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 Product Diff.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365760" y="3840480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Trademark applications and registrations with 500+ portfolio management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274320" y="4270248"/>
            <a:ext cx="4206240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4315968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 Retention Signals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365760" y="4544568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Avvo 10.0 rating, Martindale-Hubbell AV Preeminent rating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4663440" y="749808"/>
            <a:ext cx="4206240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754880" y="795528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 Headcount &amp; Hiring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4754880" y="1024128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Unknown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4663440" y="1453896"/>
            <a:ext cx="4206240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754880" y="1499616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 Funding &amp; Runway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4754880" y="1728216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Private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663440" y="2157984"/>
            <a:ext cx="4206240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754880" y="2203704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 ICP &amp; Segment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4754880" y="2432304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Entertainment industry producers, directors, actors, musicians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4663440" y="2862072"/>
            <a:ext cx="4206240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4754880" y="2907792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Messaging</a:t>
            </a:r>
            <a:endParaRPr lang="en-US" sz="900" dirty="0"/>
          </a:p>
        </p:txBody>
      </p:sp>
      <p:sp>
        <p:nvSpPr>
          <p:cNvPr id="42" name="Text 40"/>
          <p:cNvSpPr/>
          <p:nvPr/>
        </p:nvSpPr>
        <p:spPr>
          <a:xfrm>
            <a:off x="4754880" y="3136392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Intellectual property law and entertainment legal counsel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4663440" y="3566160"/>
            <a:ext cx="4206240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4754880" y="3611880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 Latest News</a:t>
            </a:r>
            <a:endParaRPr lang="en-US" sz="900" dirty="0"/>
          </a:p>
        </p:txBody>
      </p:sp>
      <p:sp>
        <p:nvSpPr>
          <p:cNvPr id="45" name="Text 43"/>
          <p:cNvSpPr/>
          <p:nvPr/>
        </p:nvSpPr>
        <p:spPr>
          <a:xfrm>
            <a:off x="4754880" y="3840480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recent news found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411480" y="4846320"/>
            <a:ext cx="8412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STRATLEDGER ADVISORY |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64592" y="0"/>
            <a:ext cx="8979408" cy="640080"/>
          </a:xfrm>
          <a:prstGeom prst="rect">
            <a:avLst/>
          </a:prstGeom>
          <a:solidFill>
            <a:srgbClr val="1D3557"/>
          </a:solidFill>
          <a:ln w="12700">
            <a:solidFill>
              <a:srgbClr val="1D3557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11480" y="7315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| COMPETITOR DEEP DIVE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11480" y="32004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kistler.com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114800" y="109728"/>
            <a:ext cx="47548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ABB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Sindelfingen, Germany | https://www.kistler.com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6858000" y="73152"/>
            <a:ext cx="1097280" cy="502920"/>
          </a:xfrm>
          <a:prstGeom prst="rect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858000" y="109728"/>
            <a:ext cx="10972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50/100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858000" y="329184"/>
            <a:ext cx="10972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INNOVATION</a:t>
            </a:r>
            <a:endParaRPr lang="en-US" sz="700" dirty="0"/>
          </a:p>
        </p:txBody>
      </p:sp>
      <p:sp>
        <p:nvSpPr>
          <p:cNvPr id="10" name="Shape 8"/>
          <p:cNvSpPr/>
          <p:nvPr/>
        </p:nvSpPr>
        <p:spPr>
          <a:xfrm>
            <a:off x="8046720" y="73152"/>
            <a:ext cx="914400" cy="502920"/>
          </a:xfrm>
          <a:prstGeom prst="rect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046720" y="201168"/>
            <a:ext cx="914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MEDIUM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8046720" y="402336"/>
            <a:ext cx="9144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THREAT</a:t>
            </a:r>
            <a:endParaRPr lang="en-US" sz="700" dirty="0"/>
          </a:p>
        </p:txBody>
      </p:sp>
      <p:sp>
        <p:nvSpPr>
          <p:cNvPr id="13" name="Shape 11"/>
          <p:cNvSpPr/>
          <p:nvPr/>
        </p:nvSpPr>
        <p:spPr>
          <a:xfrm>
            <a:off x="274320" y="749808"/>
            <a:ext cx="4206240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795528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 Revenue &amp; Growth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365760" y="1024128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Unknown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274320" y="1453896"/>
            <a:ext cx="4206240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1499616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Market Share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365760" y="1728216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Unknown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274320" y="2157984"/>
            <a:ext cx="4206240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2203704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Pricing Model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365760" y="2432304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Opaque pricing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274320" y="2862072"/>
            <a:ext cx="4206240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2907792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CAC &amp; Channels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365760" y="3136392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 finder, industry partnerships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274320" y="3566160"/>
            <a:ext cx="4206240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611880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 Product Diff.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365760" y="3840480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IEPE piezoelectric sensors, force sensors, accelerometers, speed measurement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274320" y="4270248"/>
            <a:ext cx="4206240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4315968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 Retention Signals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365760" y="4544568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Unknown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4663440" y="749808"/>
            <a:ext cx="4206240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754880" y="795528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 Headcount &amp; Hiring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4754880" y="1024128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Unknown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4663440" y="1453896"/>
            <a:ext cx="4206240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754880" y="1499616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 Funding &amp; Runway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4754880" y="1728216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Private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663440" y="2157984"/>
            <a:ext cx="4206240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754880" y="2203704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 ICP &amp; Segment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4754880" y="2432304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Industrial measurement and vibration monitoring applications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4663440" y="2862072"/>
            <a:ext cx="4206240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4754880" y="2907792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Messaging</a:t>
            </a:r>
            <a:endParaRPr lang="en-US" sz="900" dirty="0"/>
          </a:p>
        </p:txBody>
      </p:sp>
      <p:sp>
        <p:nvSpPr>
          <p:cNvPr id="42" name="Text 40"/>
          <p:cNvSpPr/>
          <p:nvPr/>
        </p:nvSpPr>
        <p:spPr>
          <a:xfrm>
            <a:off x="4754880" y="3136392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Precision measurement technology for force, pressure, acceleration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4663440" y="3566160"/>
            <a:ext cx="4206240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4754880" y="3611880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 Latest News</a:t>
            </a:r>
            <a:endParaRPr lang="en-US" sz="900" dirty="0"/>
          </a:p>
        </p:txBody>
      </p:sp>
      <p:sp>
        <p:nvSpPr>
          <p:cNvPr id="45" name="Text 43"/>
          <p:cNvSpPr/>
          <p:nvPr/>
        </p:nvSpPr>
        <p:spPr>
          <a:xfrm>
            <a:off x="4754880" y="3840480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eso GmbH fully merged with Kistler Instrumente GmbH in March 2021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411480" y="4846320"/>
            <a:ext cx="8412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STRATLEDGER ADVISORY |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64592" y="0"/>
            <a:ext cx="8979408" cy="640080"/>
          </a:xfrm>
          <a:prstGeom prst="rect">
            <a:avLst/>
          </a:prstGeom>
          <a:solidFill>
            <a:srgbClr val="1D3557"/>
          </a:solidFill>
          <a:ln w="12700">
            <a:solidFill>
              <a:srgbClr val="1D3557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11480" y="7315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| COMPETITOR DEEP DIVE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11480" y="32004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synventive.com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114800" y="109728"/>
            <a:ext cx="47548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ABB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Unknown | https://www.synventive.com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6858000" y="73152"/>
            <a:ext cx="1097280" cy="502920"/>
          </a:xfrm>
          <a:prstGeom prst="rect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858000" y="109728"/>
            <a:ext cx="10972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50/100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858000" y="329184"/>
            <a:ext cx="10972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INNOVATION</a:t>
            </a:r>
            <a:endParaRPr lang="en-US" sz="700" dirty="0"/>
          </a:p>
        </p:txBody>
      </p:sp>
      <p:sp>
        <p:nvSpPr>
          <p:cNvPr id="10" name="Shape 8"/>
          <p:cNvSpPr/>
          <p:nvPr/>
        </p:nvSpPr>
        <p:spPr>
          <a:xfrm>
            <a:off x="8046720" y="73152"/>
            <a:ext cx="914400" cy="502920"/>
          </a:xfrm>
          <a:prstGeom prst="rect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046720" y="201168"/>
            <a:ext cx="914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MEDIUM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8046720" y="402336"/>
            <a:ext cx="9144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THREAT</a:t>
            </a:r>
            <a:endParaRPr lang="en-US" sz="700" dirty="0"/>
          </a:p>
        </p:txBody>
      </p:sp>
      <p:sp>
        <p:nvSpPr>
          <p:cNvPr id="13" name="Shape 11"/>
          <p:cNvSpPr/>
          <p:nvPr/>
        </p:nvSpPr>
        <p:spPr>
          <a:xfrm>
            <a:off x="274320" y="749808"/>
            <a:ext cx="4206240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795528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 Revenue &amp; Growth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365760" y="1024128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Unknown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274320" y="1453896"/>
            <a:ext cx="4206240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1499616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Market Share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365760" y="1728216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World's leading manufacturer of hot runner systems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274320" y="2157984"/>
            <a:ext cx="4206240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2203704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Pricing Model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365760" y="2432304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Opaque pricing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274320" y="2862072"/>
            <a:ext cx="4206240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2907792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CAC &amp; Channels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365760" y="3136392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 consultative approach, product demonstrations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274320" y="3566160"/>
            <a:ext cx="4206240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611880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 Product Diff.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365760" y="3840480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Hot runner systems, IntelliGate sensor technology, flow control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274320" y="4270248"/>
            <a:ext cx="4206240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4315968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 Retention Signals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365760" y="4544568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Unknown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4663440" y="749808"/>
            <a:ext cx="4206240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754880" y="795528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 Headcount &amp; Hiring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4754880" y="1024128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Unknown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4663440" y="1453896"/>
            <a:ext cx="4206240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754880" y="1499616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 Funding &amp; Runway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4754880" y="1728216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Private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663440" y="2157984"/>
            <a:ext cx="4206240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754880" y="2203704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 ICP &amp; Segment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4754880" y="2432304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Plastics injection molding manufacturers seeking efficiency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4663440" y="2862072"/>
            <a:ext cx="4206240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4754880" y="2907792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Messaging</a:t>
            </a:r>
            <a:endParaRPr lang="en-US" sz="900" dirty="0"/>
          </a:p>
        </p:txBody>
      </p:sp>
      <p:sp>
        <p:nvSpPr>
          <p:cNvPr id="42" name="Text 40"/>
          <p:cNvSpPr/>
          <p:nvPr/>
        </p:nvSpPr>
        <p:spPr>
          <a:xfrm>
            <a:off x="4754880" y="3136392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Mold a better tomorrow with hot runner innovation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4663440" y="3566160"/>
            <a:ext cx="4206240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4754880" y="3611880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 Latest News</a:t>
            </a:r>
            <a:endParaRPr lang="en-US" sz="900" dirty="0"/>
          </a:p>
        </p:txBody>
      </p:sp>
      <p:sp>
        <p:nvSpPr>
          <p:cNvPr id="45" name="Text 43"/>
          <p:cNvSpPr/>
          <p:nvPr/>
        </p:nvSpPr>
        <p:spPr>
          <a:xfrm>
            <a:off x="4754880" y="3840480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New IntelliGate Hot Runner with digital sensor technology launched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411480" y="4846320"/>
            <a:ext cx="8412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STRATLEDGER ADVISORY |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64592" y="0"/>
            <a:ext cx="8979408" cy="640080"/>
          </a:xfrm>
          <a:prstGeom prst="rect">
            <a:avLst/>
          </a:prstGeom>
          <a:solidFill>
            <a:srgbClr val="1D3557"/>
          </a:solidFill>
          <a:ln w="12700">
            <a:solidFill>
              <a:srgbClr val="1D3557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11480" y="164592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 | KPI COMPARISON MATRIX</a:t>
            </a:r>
            <a:endParaRPr lang="en-US" sz="11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92608" y="713232"/>
          <a:ext cx="8549640" cy="4114800"/>
        </p:xfrm>
        <a:graphic>
          <a:graphicData uri="http://schemas.openxmlformats.org/drawingml/2006/table">
            <a:tbl>
              <a:tblPr/>
              <a:tblGrid>
                <a:gridCol w="1709928"/>
                <a:gridCol w="1709928"/>
                <a:gridCol w="1709928"/>
                <a:gridCol w="1709928"/>
                <a:gridCol w="1709928"/>
              </a:tblGrid>
              <a:tr h="3429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KPI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355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D4AF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Mesh Bioplastics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355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rjg.com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355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kistler.com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355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synventive.com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3557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Revenue &amp; Growth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N/A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8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Unknown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Unknown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Unknown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Market Share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Emerging — unique segment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8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Unknown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Unknown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World's leading manufacturer of hot runner systems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Pricing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N/A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8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Opaque pricing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Opaque pricing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Opaque pricing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CAC &amp; Channels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Direct enterprise / partner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8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Direct contact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Product finder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Direct consultative approach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Product Diff.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VariControl + bioplastics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8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Trademark applications and registrations with 500+ portfolio management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IEPE piezoelectric sensors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Hot runner systems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Retention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Co-dev creates lock-in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8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Avvo 10.0 rating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Unknown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Unknown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Headcount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Early stage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8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Unknown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Unknown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Unknown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Funding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Pre-seed / seeking raise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8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ICP &amp; Segment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Healthcare + industrial MFG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8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Entertainment industry producers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Industrial measurement and vibration monitoring applications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Plastics injection molding manufacturers seeking efficiency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Messaging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AI + sustainability platform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8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Intellectual property law and entertainment legal counsel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Precision measurement technology for force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Mold a better tomorrow with hot runner innovation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Latest News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N/A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8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 recent news found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eso GmbH fully merged with Kistler Instrumente GmbH in March 2021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New IntelliGate Hot Runner with digital sensor technology launched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411480" y="4846320"/>
            <a:ext cx="8412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STRATLEDGER ADVISORY |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64592" y="0"/>
            <a:ext cx="8979408" cy="640080"/>
          </a:xfrm>
          <a:prstGeom prst="rect">
            <a:avLst/>
          </a:prstGeom>
          <a:solidFill>
            <a:srgbClr val="1D3557"/>
          </a:solidFill>
          <a:ln w="12700">
            <a:solidFill>
              <a:srgbClr val="1D3557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11480" y="164592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 | STRATEGIC RECOMMENDATIONS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292608" y="749808"/>
            <a:ext cx="2788920" cy="3931920"/>
          </a:xfrm>
          <a:prstGeom prst="rect">
            <a:avLst/>
          </a:prstGeom>
          <a:solidFill>
            <a:srgbClr val="EFF8F0"/>
          </a:solidFill>
          <a:ln w="12700">
            <a:solidFill>
              <a:srgbClr val="CCCCCC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292608" y="749808"/>
            <a:ext cx="2788920" cy="384048"/>
          </a:xfrm>
          <a:prstGeom prst="rect">
            <a:avLst/>
          </a:prstGeom>
          <a:solidFill>
            <a:srgbClr val="2D6A4F"/>
          </a:solidFill>
          <a:ln w="12700">
            <a:solidFill>
              <a:srgbClr val="2D6A4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84048" y="804672"/>
            <a:ext cx="2606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3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EXPLOIT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264408" y="749808"/>
            <a:ext cx="2788920" cy="3931920"/>
          </a:xfrm>
          <a:prstGeom prst="rect">
            <a:avLst/>
          </a:prstGeom>
          <a:solidFill>
            <a:srgbClr val="FDF0F0"/>
          </a:solidFill>
          <a:ln w="12700">
            <a:solidFill>
              <a:srgbClr val="CCCCCC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3264408" y="749808"/>
            <a:ext cx="2788920" cy="384048"/>
          </a:xfrm>
          <a:prstGeom prst="rect">
            <a:avLst/>
          </a:prstGeom>
          <a:solidFill>
            <a:srgbClr val="CC3333"/>
          </a:solidFill>
          <a:ln w="12700">
            <a:solidFill>
              <a:srgbClr val="CC333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355848" y="804672"/>
            <a:ext cx="2606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3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DEFEND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236208" y="749808"/>
            <a:ext cx="2788920" cy="3931920"/>
          </a:xfrm>
          <a:prstGeom prst="rect">
            <a:avLst/>
          </a:prstGeom>
          <a:solidFill>
            <a:srgbClr val="F0F4FF"/>
          </a:solidFill>
          <a:ln w="12700">
            <a:solidFill>
              <a:srgbClr val="CCCCCC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6236208" y="749808"/>
            <a:ext cx="2788920" cy="384048"/>
          </a:xfrm>
          <a:prstGeom prst="rect">
            <a:avLst/>
          </a:prstGeom>
          <a:solidFill>
            <a:srgbClr val="1D3557"/>
          </a:solidFill>
          <a:ln w="12700">
            <a:solidFill>
              <a:srgbClr val="1D3557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327648" y="804672"/>
            <a:ext cx="2606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3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POSITION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11480" y="4846320"/>
            <a:ext cx="8412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STRATLEDGER ADVISORY |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D355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1371600"/>
            <a:ext cx="8229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STRATLEDGER</a:t>
            </a:r>
            <a:endParaRPr lang="en-US" sz="2800" dirty="0"/>
          </a:p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ADVISORY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3200400" y="2377440"/>
            <a:ext cx="2743200" cy="45720"/>
          </a:xfrm>
          <a:prstGeom prst="rect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11480" y="25603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AABB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Precision intelligence for B2B sales teams.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411480" y="30175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ABB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Questions about this report? Contact your Stratledger advisor.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11480" y="347472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stratledger.com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Stratledger Competitive Intelligence — Mesh Bioplastics</dc:title>
  <dc:subject>PptxGenJS Presentation</dc:subject>
  <dc:creator>PptxGenJS</dc:creator>
  <cp:lastModifiedBy>PptxGenJS</cp:lastModifiedBy>
  <cp:revision>1</cp:revision>
  <dcterms:created xsi:type="dcterms:W3CDTF">2026-04-13T14:36:19Z</dcterms:created>
  <dcterms:modified xsi:type="dcterms:W3CDTF">2026-04-13T14:36:19Z</dcterms:modified>
</cp:coreProperties>
</file>