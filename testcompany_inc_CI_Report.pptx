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457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2860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00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INTELLIGENCE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TestCompany Inc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0604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31089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80060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4592" y="4663440"/>
            <a:ext cx="8979408" cy="48006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Stratledger Advisory | 2026-04-13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822960"/>
            <a:ext cx="841248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0584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051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Profile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2801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of TestCompany Inc and their market position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64592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64592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3736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1691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 Framework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9202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11 KPIs used to evaluate every competitor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28600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28600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7744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 Map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5603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4-quadrant positioning of all identified competitors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292608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92608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01752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Deep Dives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2004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profile per competitor across all 11 KPIs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356616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56616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657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" y="36118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Comparison Matrix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Side-by-side benchmarking across the competitive set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4206240"/>
            <a:ext cx="8412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206240"/>
            <a:ext cx="502920" cy="530352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9768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05840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" y="44805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findings and opportunities to exploit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| CLIENT PROFILE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0" y="9144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TestCompany Inc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822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OVERVIEW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115568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344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Example Domain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domain is for use in documentation examples without needing permission. Avoid use in operations.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[Learn more](https://iana.org/domains/example)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Example Domain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domain is for use in documentation examples without needing permission. Avoid use in operations.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[Learn more](https://iana.org/domains/example)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---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Example Domain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domain is for use in documentation examples without needing permission. Avoid use in operations.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[Learn more](https://iana.org/d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DIFFERENTIATOR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624328"/>
            <a:ext cx="5029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697480"/>
            <a:ext cx="45720" cy="914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974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777240"/>
            <a:ext cx="3063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0" y="868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SCORES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0" y="16642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2057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75/100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43600" y="24871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Axis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| INTELLIGENCE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77724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822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&amp; Growth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86968" y="10698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Absolute revenue, YoY trajectory, market momentum signals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1435608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435608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581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17282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 of TAM vs client and other players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093976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93976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240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Model &amp; Structure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86968" y="23865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Tiers, packaging, discount posture, and target margin signals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752344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52344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27980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&amp; Acquisition Channels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Paid, SEO, partnerships, outbound — and relative investment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3410712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3410712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5570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86968" y="3456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/ Feature Diff.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86968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 gap analysis vs the client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06908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06908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21538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86968" y="41148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 Signals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6968" y="436168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proxies, G2/Trustpilot reviews, churn indicators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777240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777240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923544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76088" y="822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Headcount &amp; Hiring Velocity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76088" y="1069848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trends, open roles, departmental growth signals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00600" y="1435608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1435608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581912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76088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&amp; Burn Rate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76088" y="1728216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history, total capital, implied runway and threat level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00600" y="2093976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00600" y="2093976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2240280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76088" y="213969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ICP &amp; Target Segment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76088" y="2386584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Firmographic and persona overlap with client's ICP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00600" y="2752344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2752344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898648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276088" y="27980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Messaging &amp; Positioning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76088" y="3044952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value proposition, tagline, and strategic intent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00600" y="3410712"/>
            <a:ext cx="4160520" cy="566928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00600" y="3410712"/>
            <a:ext cx="384048" cy="56692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00600" y="3557016"/>
            <a:ext cx="384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76088" y="3456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Latest News &amp; Developments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276088" y="3703320"/>
            <a:ext cx="3566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 releases, product launches, partnerships, leadership changes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| COMPETITIVE LANDSCAPE 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97280" y="777240"/>
            <a:ext cx="3291840" cy="192024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777240"/>
            <a:ext cx="3291840" cy="1920240"/>
          </a:xfrm>
          <a:prstGeom prst="rect">
            <a:avLst/>
          </a:prstGeom>
          <a:solidFill>
            <a:srgbClr val="EFF8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97480"/>
            <a:ext cx="329184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9120" y="2697480"/>
            <a:ext cx="3291840" cy="1920240"/>
          </a:xfrm>
          <a:prstGeom prst="rect">
            <a:avLst/>
          </a:prstGeom>
          <a:solidFill>
            <a:srgbClr val="F9F5E8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868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80560" y="868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THREATS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8872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80560" y="27889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LIST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777240"/>
            <a:ext cx="0" cy="384048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1097280" y="2697480"/>
            <a:ext cx="65836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97280" y="685800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HIGH 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" y="4636008"/>
            <a:ext cx="6583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LOW ▼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" y="2560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◄ LOW LOW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26680" y="25603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HIGH ►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07024" y="1609344"/>
            <a:ext cx="256032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59552" y="1883664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TestCompany Inc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79392" y="2587752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13632" y="28254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asana.com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279392" y="2587752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13632" y="28254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279392" y="2587752"/>
            <a:ext cx="219456" cy="219456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13632" y="282549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notion.so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955280" y="914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955280" y="1143000"/>
            <a:ext cx="164592" cy="16459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83880" y="11430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Company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973568" y="1389888"/>
            <a:ext cx="146304" cy="146304"/>
          </a:xfrm>
          <a:prstGeom prst="ellipse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1371600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asana.com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| https://asana.com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[Resources](https://asana.com/resources "Resources") \|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[Business strategy](https://asana.com/resources/business-strategy "Business strategy") \|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[Management by Objectives (MBO): Steps, ...](htt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monday.com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| https://monday.com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[Skip to main content](https://monday.com/blog/crm-and-sales/recommended-ai-tools-for-account-based-marketing/#content) [Skip to footer](https://monday.com/blog/crm-and-sales/recommended-ai-tools-for-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| COMPETITOR DEEP DIVE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20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notion.so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0" y="109728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N/A | https://notion.so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73152"/>
            <a:ext cx="109728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0972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50/100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3291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046720" y="73152"/>
            <a:ext cx="9144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011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02336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7432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Revenue &amp;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![](https://www.notion.com/front-static/agents/tasks/check.svg)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![](https://www.notion.com/_next/image?url=%2Ffront-static%2Fagents%2Fbook.png&amp;w=96&amp;q=75)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![](https://www.notion.com/front-static/agen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Market Share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Pricing Model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CAC &amp; Channels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Product Diff.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427024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31596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Retention Signals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454456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749808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795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Headcount &amp; Hiring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54880" y="10241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453896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4996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Funding &amp; Runway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17282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157984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220370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ICP &amp; Segment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754880" y="243230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2862072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9077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Messaging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31363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566160"/>
            <a:ext cx="4206240" cy="62179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361188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35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Latest News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548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| KPI COMPARISON MATRIX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" y="713232"/>
          <a:ext cx="8549640" cy="4114800"/>
        </p:xfrm>
        <a:graphic>
          <a:graphicData uri="http://schemas.openxmlformats.org/drawingml/2006/table">
            <a:tbl>
              <a:tblPr/>
              <a:tblGrid>
                <a:gridCol w="1709928"/>
                <a:gridCol w="1709928"/>
                <a:gridCol w="1709928"/>
                <a:gridCol w="1709928"/>
                <a:gridCol w="1709928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TestCompany Inc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asana.com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monday.com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notion.so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55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&amp; Growth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[Resources](https://asana.com/resources "Resources") \|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[Business strategy](https://asana.com/resources/business-strategy "Business strategy") \|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 [Management by Objectives (MBO): Steps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[Skip to main content](https://monday.com/blog/crm-and-sales/recommended-ai-tools-for-account-based-marketing/#content) [Skip to footer](https://monday.com/blog/crm-and-sales/recommended-ai-tools-for-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![](https://www.notion.com/front-static/agents/tasks/check.svg)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![](https://www.notion.com/_next/image?url=%2Ffront-static%2Fagents%2Fbook.png&amp;w=96&amp;q=75)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![](https://www.notion.com/front-static/agen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Share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Emerging — unique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CAC &amp; Channels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 enterprise / partner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Diff.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VariControl + bioplastics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Retention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Co-dev creates lock-in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Headcount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stage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Pre-seed / seeking raise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ICP &amp; Segment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 + industrial MFG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Messaging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+ sustainability platform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Latest News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40080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| STRATEGIC RECOMMENDATIONS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92608" y="749808"/>
            <a:ext cx="2788920" cy="3931920"/>
          </a:xfrm>
          <a:prstGeom prst="rect">
            <a:avLst/>
          </a:prstGeom>
          <a:solidFill>
            <a:srgbClr val="EFF8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749808"/>
            <a:ext cx="2788920" cy="3840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749808"/>
            <a:ext cx="2788920" cy="3931920"/>
          </a:xfrm>
          <a:prstGeom prst="rect">
            <a:avLst/>
          </a:prstGeom>
          <a:solidFill>
            <a:srgbClr val="FDF0F0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749808"/>
            <a:ext cx="2788920" cy="384048"/>
          </a:xfrm>
          <a:prstGeom prst="rect">
            <a:avLst/>
          </a:prstGeom>
          <a:solidFill>
            <a:srgbClr val="CC3333"/>
          </a:solidFill>
          <a:ln w="12700">
            <a:solidFill>
              <a:srgbClr val="CC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558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36208" y="749808"/>
            <a:ext cx="2788920" cy="3931920"/>
          </a:xfrm>
          <a:prstGeom prst="rect">
            <a:avLst/>
          </a:prstGeom>
          <a:solidFill>
            <a:srgbClr val="F0F4FF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36208" y="749808"/>
            <a:ext cx="2788920" cy="384048"/>
          </a:xfrm>
          <a:prstGeom prst="rect">
            <a:avLst/>
          </a:prstGeom>
          <a:solidFill>
            <a:srgbClr val="1D3557"/>
          </a:solidFill>
          <a:ln w="12700">
            <a:solidFill>
              <a:srgbClr val="1D35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8046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 ADVISORY |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35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intelligence for B2B sales teams.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about this report? Contact your Stratledger advisor.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stratledger.com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Stratledger Competitive Intelligence — TestCompany Inc</dc:title>
  <dc:subject>PptxGenJS Presentation</dc:subject>
  <dc:creator>PptxGenJS</dc:creator>
  <cp:lastModifiedBy>PptxGenJS</cp:lastModifiedBy>
  <cp:revision>1</cp:revision>
  <dcterms:created xsi:type="dcterms:W3CDTF">2026-04-13T14:22:20Z</dcterms:created>
  <dcterms:modified xsi:type="dcterms:W3CDTF">2026-04-13T14:22:20Z</dcterms:modified>
</cp:coreProperties>
</file>