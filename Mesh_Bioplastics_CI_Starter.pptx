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286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Bioplastics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Stratledger Advisory | 13 April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41248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Mesh Bioplastics and their market 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4592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 KPIs used to evaluate every competitor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28600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4-quadrant positioning of all identified competitors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17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Deep Dives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profile per competitor across all 11 KPIs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661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6616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57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Comparison Matrix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benchmarking across the competitive 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2062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20624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97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44805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findings and opportunities to exploit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CLIENT PROFILE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91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Bioplastics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injection moulding process optimisation combined with sustainable bioplastics.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DIFFERENTIATOR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697480"/>
            <a:ext cx="4572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VariControl delivers embedded AI + bioplastics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777240"/>
            <a:ext cx="3063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868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SCORES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78/100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1664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Innovation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85/100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INTELLIGENCE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77724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822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Growth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0698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revenue, YoY trajectory, market momentum signals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35608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35608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17282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of TAM vs client and other players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093976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93976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0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 &amp; 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3865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Tiers, packaging, discount posture, and target margin signals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752344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52344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7980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&amp; Acquisition Channels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Paid, SEO, partnerships, outbound — and relative investment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410712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10712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570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456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Feature Diff.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 gap analysis vs the client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06908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06908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1538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Signals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3616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proxies, G2/Trustpilot reviews, churn indicators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77724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77724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76088" y="822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&amp; Hiring Velocity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10698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trends, open roles, departmental growth signals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1435608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435608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581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76088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&amp; Burn Rate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76088" y="17282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history, total capital, implied runway and threat level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093976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093976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240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76088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&amp; Target Segment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76088" y="23865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Firmographic and persona overlap with client's ICP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2752344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2752344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76088" y="27980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&amp; Positioning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7608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value proposition, tagline, and strategic intent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410712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3410712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35570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76088" y="3456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News &amp; Developments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76088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releases, product launches, partnerships, leadership changes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COMPETITIVE LANDSCAPE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777240"/>
            <a:ext cx="3291840" cy="1920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777240"/>
            <a:ext cx="3291840" cy="1920240"/>
          </a:xfrm>
          <a:prstGeom prst="rect">
            <a:avLst/>
          </a:prstGeom>
          <a:solidFill>
            <a:srgbClr val="EFF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97480"/>
            <a:ext cx="32918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2697480"/>
            <a:ext cx="3291840" cy="1920240"/>
          </a:xfrm>
          <a:prstGeom prst="rect">
            <a:avLst/>
          </a:prstGeom>
          <a:solidFill>
            <a:srgbClr val="F9F5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868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868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THREATS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777240"/>
            <a:ext cx="0" cy="384048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97280" y="2697480"/>
            <a:ext cx="6583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97280" y="68580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HIGH INTEGRATED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463600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STANDALONE 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LOW PROCESS ONLY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2668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INNOVATION 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04534" y="1225296"/>
            <a:ext cx="256032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57062" y="14996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Bioplastics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27802" y="2011680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2042" y="22494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Krauss Maffei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64454" y="2126894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8694" y="236463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Austria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66944" y="2280514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51825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NISSEI Plastic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914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55280" y="1143000"/>
            <a:ext cx="164592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1430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Company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973568" y="1389888"/>
            <a:ext cx="146304" cy="146304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3716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Krauss Maffei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Munich | https://www.krauss-maffei.com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14.2B revenue, 3.2% YoY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global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5M-50M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molding, limited AI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lock-in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excellence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Suite Q2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Austria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 | https://www.engel.at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1.6B, 5.1% YoY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2M-15M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systems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e-injection March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NISSEI Plastic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 | https://www.nissei.co.jp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115B yen, 2.8%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1M-10M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distributors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controls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OEM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pricing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expansion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KPI COMPARISON MATRIX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713232"/>
          <a:ext cx="8549640" cy="4114800"/>
        </p:xfrm>
        <a:graphic>
          <a:graphicData uri="http://schemas.openxmlformats.org/drawingml/2006/table">
            <a:tbl>
              <a:tblPr/>
              <a:tblGrid>
                <a:gridCol w="1709928"/>
                <a:gridCol w="1709928"/>
                <a:gridCol w="1709928"/>
                <a:gridCol w="1709928"/>
                <a:gridCol w="1709928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Mesh Bioplastics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Krauss Maffei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Engel Austria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NISSEI Plastic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&amp; Growth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14.2B 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115B yen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Share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Emerging — unique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 global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 co-dev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5M-50M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2M-15M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1M-10M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&amp; Channels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enterprise / partner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sales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distributors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Diff.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VariControl + bioplastics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molding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Hydraulic systems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controls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Co-dev creates lock-in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lock-in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Pre-seed / seeking raise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TSE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 &amp;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 + industrial MFG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Mid-market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OEM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sustainability platform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excellence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News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MedTech Expo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Suite Q2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e-injection March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expansion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STRATEGIC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2788920" cy="3931920"/>
          </a:xfrm>
          <a:prstGeom prst="rect">
            <a:avLst/>
          </a:prstGeom>
          <a:solidFill>
            <a:srgbClr val="EFF8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49808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" y="1234440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618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234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as AI-first overlay on legacy machines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" y="2286000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31343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2860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sustainability plus performance story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3337560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36499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337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mid-market with 100K pilots vs 10M hardware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64408" y="749808"/>
            <a:ext cx="2788920" cy="3931920"/>
          </a:xfrm>
          <a:prstGeom prst="rect">
            <a:avLst/>
          </a:prstGeom>
          <a:solidFill>
            <a:srgbClr val="FDF0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749808"/>
            <a:ext cx="278892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74136" y="1234440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12618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21608" y="1234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AI roadmaps from Krauss and Engel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74136" y="2286000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231343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21608" y="22860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OEM bundle deals increasing lock-in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74136" y="3337560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36499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21608" y="3337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VariControl IP vs Krauss patents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6208" y="749808"/>
            <a:ext cx="278892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749808"/>
            <a:ext cx="2788920" cy="38404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45936" y="1234440"/>
            <a:ext cx="256032" cy="256032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126187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93408" y="1234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AI plus sustainable materials message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45936" y="2286000"/>
            <a:ext cx="256032" cy="256032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231343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93408" y="22860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as retrofit data layer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45936" y="3337560"/>
            <a:ext cx="256032" cy="256032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36499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93408" y="3337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total cost of ownership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intelligence for B2B sales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this report? Contact your Stratledger advisor.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Stratledger Competitive Intelligence — Mesh Bioplastics</dc:title>
  <dc:subject>PptxGenJS Presentation</dc:subject>
  <dc:creator>PptxGenJS</dc:creator>
  <cp:lastModifiedBy>PptxGenJS</cp:lastModifiedBy>
  <cp:revision>1</cp:revision>
  <dcterms:created xsi:type="dcterms:W3CDTF">2026-04-13T13:51:10Z</dcterms:created>
  <dcterms:modified xsi:type="dcterms:W3CDTF">2026-04-13T13:51:10Z</dcterms:modified>
</cp:coreProperties>
</file>